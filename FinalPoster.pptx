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7" r:id="rId2"/>
    <p:sldId id="256" r:id="rId3"/>
  </p:sldIdLst>
  <p:sldSz cx="32918400" cy="21945600"/>
  <p:notesSz cx="7004050" cy="92837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6912">
          <p15:clr>
            <a:srgbClr val="A4A3A4"/>
          </p15:clr>
        </p15:guide>
        <p15:guide id="2" pos="10368">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0600D14-3758-298E-AB35-6FD26175D5B7}" name="Chen, Yuyan" initials="CY" userId="S::ych2936@emory.edu::7ddf24eb-8837-4a7a-a9c1-a80ea81a3378" providerId="AD"/>
  <p188:author id="{C0E9843C-C509-4091-9BEA-0C6756E571DC}" name="Vicky Chen" initials="VC" userId="808599ff8348db7e" providerId="Windows Live"/>
  <p188:author id="{FA4EA7DB-BC2A-93BD-4518-E0E6FC609691}" name="Herrera Rodriguez, Daniel" initials="" userId="S::DFHERRE@emory.edu::8c0358a7-1a14-40fe-ba9c-13cd476ffc1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3C4"/>
    <a:srgbClr val="0066FF"/>
    <a:srgbClr val="6699FF"/>
    <a:srgbClr val="3399FF"/>
    <a:srgbClr val="C0C0C0"/>
    <a:srgbClr val="003A74"/>
    <a:srgbClr val="FFFF99"/>
    <a:srgbClr val="366E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B41B79-A10C-4CA6-BB89-617706BC63E0}" v="6" dt="2025-05-22T16:18:36.61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6654" y="-329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microsoft.com/office/2018/10/relationships/authors" Target="author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dan Estes" userId="9ffbf3f8ab62a1a2" providerId="LiveId" clId="{BAB41B79-A10C-4CA6-BB89-617706BC63E0}"/>
    <pc:docChg chg="undo custSel modSld">
      <pc:chgData name="Aidan Estes" userId="9ffbf3f8ab62a1a2" providerId="LiveId" clId="{BAB41B79-A10C-4CA6-BB89-617706BC63E0}" dt="2025-05-22T16:18:36.610" v="7"/>
      <pc:docMkLst>
        <pc:docMk/>
      </pc:docMkLst>
      <pc:sldChg chg="modSp mod">
        <pc:chgData name="Aidan Estes" userId="9ffbf3f8ab62a1a2" providerId="LiveId" clId="{BAB41B79-A10C-4CA6-BB89-617706BC63E0}" dt="2025-05-22T16:18:36.610" v="7"/>
        <pc:sldMkLst>
          <pc:docMk/>
          <pc:sldMk cId="0" sldId="256"/>
        </pc:sldMkLst>
        <pc:graphicFrameChg chg="mod modGraphic">
          <ac:chgData name="Aidan Estes" userId="9ffbf3f8ab62a1a2" providerId="LiveId" clId="{BAB41B79-A10C-4CA6-BB89-617706BC63E0}" dt="2025-05-22T16:18:36.610" v="7"/>
          <ac:graphicFrameMkLst>
            <pc:docMk/>
            <pc:sldMk cId="0" sldId="256"/>
            <ac:graphicFrameMk id="3" creationId="{3A21D0BB-9A23-E862-314B-78DC57BB156C}"/>
          </ac:graphicFrameMkLst>
        </pc:graphicFrameChg>
        <pc:graphicFrameChg chg="mod">
          <ac:chgData name="Aidan Estes" userId="9ffbf3f8ab62a1a2" providerId="LiveId" clId="{BAB41B79-A10C-4CA6-BB89-617706BC63E0}" dt="2025-05-22T16:18:04.515" v="3"/>
          <ac:graphicFrameMkLst>
            <pc:docMk/>
            <pc:sldMk cId="0" sldId="256"/>
            <ac:graphicFrameMk id="14" creationId="{C007C448-980C-4102-302F-909534CD7EA7}"/>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300"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67163" y="0"/>
            <a:ext cx="3035300" cy="465138"/>
          </a:xfrm>
          <a:prstGeom prst="rect">
            <a:avLst/>
          </a:prstGeom>
        </p:spPr>
        <p:txBody>
          <a:bodyPr vert="horz" lIns="91440" tIns="45720" rIns="91440" bIns="45720" rtlCol="0"/>
          <a:lstStyle>
            <a:lvl1pPr algn="r">
              <a:defRPr sz="1200"/>
            </a:lvl1pPr>
          </a:lstStyle>
          <a:p>
            <a:fld id="{B760E266-4A20-E744-9271-018F31C9D6BC}" type="datetimeFigureOut">
              <a:rPr lang="en-US" smtClean="0"/>
              <a:t>5/22/2025</a:t>
            </a:fld>
            <a:endParaRPr lang="en-US"/>
          </a:p>
        </p:txBody>
      </p:sp>
      <p:sp>
        <p:nvSpPr>
          <p:cNvPr id="4" name="Slide Image Placeholder 3"/>
          <p:cNvSpPr>
            <a:spLocks noGrp="1" noRot="1" noChangeAspect="1"/>
          </p:cNvSpPr>
          <p:nvPr>
            <p:ph type="sldImg" idx="2"/>
          </p:nvPr>
        </p:nvSpPr>
        <p:spPr>
          <a:xfrm>
            <a:off x="1150938" y="1160463"/>
            <a:ext cx="4702175" cy="3133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0088" y="4467225"/>
            <a:ext cx="5603875" cy="365601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8563"/>
            <a:ext cx="3035300" cy="4651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67163" y="8818563"/>
            <a:ext cx="3035300" cy="465137"/>
          </a:xfrm>
          <a:prstGeom prst="rect">
            <a:avLst/>
          </a:prstGeom>
        </p:spPr>
        <p:txBody>
          <a:bodyPr vert="horz" lIns="91440" tIns="45720" rIns="91440" bIns="45720" rtlCol="0" anchor="b"/>
          <a:lstStyle>
            <a:lvl1pPr algn="r">
              <a:defRPr sz="1200"/>
            </a:lvl1pPr>
          </a:lstStyle>
          <a:p>
            <a:fld id="{4C90FC18-B53F-8C43-A569-8E41F04F3FF1}" type="slidenum">
              <a:rPr lang="en-US" smtClean="0"/>
              <a:t>‹#›</a:t>
            </a:fld>
            <a:endParaRPr lang="en-US"/>
          </a:p>
        </p:txBody>
      </p:sp>
    </p:spTree>
    <p:extLst>
      <p:ext uri="{BB962C8B-B14F-4D97-AF65-F5344CB8AC3E}">
        <p14:creationId xmlns:p14="http://schemas.microsoft.com/office/powerpoint/2010/main" val="3105865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C90FC18-B53F-8C43-A569-8E41F04F3FF1}" type="slidenum">
              <a:rPr lang="en-US" smtClean="0"/>
              <a:t>2</a:t>
            </a:fld>
            <a:endParaRPr lang="en-US"/>
          </a:p>
        </p:txBody>
      </p:sp>
    </p:spTree>
    <p:extLst>
      <p:ext uri="{BB962C8B-B14F-4D97-AF65-F5344CB8AC3E}">
        <p14:creationId xmlns:p14="http://schemas.microsoft.com/office/powerpoint/2010/main" val="1011430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94776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userDrawn="1"/>
        </p:nvSpPr>
        <p:spPr bwMode="auto">
          <a:xfrm>
            <a:off x="0" y="3656013"/>
            <a:ext cx="5484813" cy="18281650"/>
          </a:xfrm>
          <a:prstGeom prst="rect">
            <a:avLst/>
          </a:prstGeom>
          <a:solidFill>
            <a:schemeClr val="accent1">
              <a:lumMod val="75000"/>
            </a:schemeClr>
          </a:solidFill>
          <a:ln>
            <a:noFill/>
          </a:ln>
          <a:effectLst/>
        </p:spPr>
        <p:txBody>
          <a:bodyPr wrap="none" lIns="457200" tIns="228600" rIns="457200" bIns="457200"/>
          <a:lstStyle/>
          <a:p>
            <a:pPr algn="ctr" defTabSz="4389438"/>
            <a:endParaRPr lang="en-US" sz="4800">
              <a:latin typeface="Calibri" pitchFamily="34" charset="0"/>
            </a:endParaRPr>
          </a:p>
        </p:txBody>
      </p:sp>
      <p:sp>
        <p:nvSpPr>
          <p:cNvPr id="1032" name="Rectangle 8"/>
          <p:cNvSpPr>
            <a:spLocks noChangeArrowheads="1"/>
          </p:cNvSpPr>
          <p:nvPr userDrawn="1"/>
        </p:nvSpPr>
        <p:spPr bwMode="auto">
          <a:xfrm>
            <a:off x="5484813" y="0"/>
            <a:ext cx="27422475" cy="3656013"/>
          </a:xfrm>
          <a:prstGeom prst="rect">
            <a:avLst/>
          </a:prstGeom>
          <a:solidFill>
            <a:schemeClr val="accent1">
              <a:lumMod val="75000"/>
            </a:schemeClr>
          </a:solidFill>
          <a:ln>
            <a:noFill/>
          </a:ln>
          <a:effectLst/>
        </p:spPr>
        <p:txBody>
          <a:bodyPr wrap="none" lIns="457200" tIns="457200" rIns="457200" bIns="457200"/>
          <a:lstStyle/>
          <a:p>
            <a:endParaRPr lang="en-US">
              <a:latin typeface="Calibri" pitchFamily="34" charset="0"/>
            </a:endParaRPr>
          </a:p>
        </p:txBody>
      </p:sp>
      <p:sp>
        <p:nvSpPr>
          <p:cNvPr id="1033" name="Rectangle 9"/>
          <p:cNvSpPr>
            <a:spLocks noChangeArrowheads="1"/>
          </p:cNvSpPr>
          <p:nvPr userDrawn="1"/>
        </p:nvSpPr>
        <p:spPr bwMode="auto">
          <a:xfrm>
            <a:off x="5484813" y="3656013"/>
            <a:ext cx="27422475" cy="18281650"/>
          </a:xfrm>
          <a:prstGeom prst="rect">
            <a:avLst/>
          </a:prstGeom>
          <a:solidFill>
            <a:schemeClr val="bg2"/>
          </a:solidFill>
          <a:ln>
            <a:noFill/>
          </a:ln>
          <a:effectLst/>
        </p:spPr>
        <p:txBody>
          <a:bodyPr wrap="none" lIns="457200" tIns="457200" rIns="457200" bIns="457200"/>
          <a:lstStyle/>
          <a:p>
            <a:endParaRPr lang="en-US">
              <a:latin typeface="Calibri" pitchFamily="34" charset="0"/>
            </a:endParaRPr>
          </a:p>
        </p:txBody>
      </p:sp>
      <p:sp>
        <p:nvSpPr>
          <p:cNvPr id="1035" name="Line 11"/>
          <p:cNvSpPr>
            <a:spLocks noChangeShapeType="1"/>
          </p:cNvSpPr>
          <p:nvPr userDrawn="1"/>
        </p:nvSpPr>
        <p:spPr bwMode="auto">
          <a:xfrm>
            <a:off x="5484813" y="0"/>
            <a:ext cx="0" cy="2193925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libri" pitchFamily="34" charset="0"/>
            </a:endParaRPr>
          </a:p>
        </p:txBody>
      </p:sp>
      <p:sp>
        <p:nvSpPr>
          <p:cNvPr id="1036" name="Line 12"/>
          <p:cNvSpPr>
            <a:spLocks noChangeShapeType="1"/>
          </p:cNvSpPr>
          <p:nvPr userDrawn="1"/>
        </p:nvSpPr>
        <p:spPr bwMode="auto">
          <a:xfrm>
            <a:off x="0" y="3657600"/>
            <a:ext cx="32907288"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libri" pitchFamily="34" charset="0"/>
            </a:endParaRPr>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508200" y="21683472"/>
            <a:ext cx="5297435" cy="18592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389438" rtl="0" fontAlgn="base">
        <a:spcBef>
          <a:spcPct val="0"/>
        </a:spcBef>
        <a:spcAft>
          <a:spcPct val="0"/>
        </a:spcAft>
        <a:defRPr sz="21100">
          <a:solidFill>
            <a:schemeClr val="tx2"/>
          </a:solidFill>
          <a:latin typeface="+mj-lt"/>
          <a:ea typeface="+mj-ea"/>
          <a:cs typeface="+mj-cs"/>
        </a:defRPr>
      </a:lvl1pPr>
      <a:lvl2pPr algn="ctr" defTabSz="4389438" rtl="0" fontAlgn="base">
        <a:spcBef>
          <a:spcPct val="0"/>
        </a:spcBef>
        <a:spcAft>
          <a:spcPct val="0"/>
        </a:spcAft>
        <a:defRPr sz="21100">
          <a:solidFill>
            <a:schemeClr val="tx2"/>
          </a:solidFill>
          <a:latin typeface="Arial" charset="0"/>
        </a:defRPr>
      </a:lvl2pPr>
      <a:lvl3pPr algn="ctr" defTabSz="4389438" rtl="0" fontAlgn="base">
        <a:spcBef>
          <a:spcPct val="0"/>
        </a:spcBef>
        <a:spcAft>
          <a:spcPct val="0"/>
        </a:spcAft>
        <a:defRPr sz="21100">
          <a:solidFill>
            <a:schemeClr val="tx2"/>
          </a:solidFill>
          <a:latin typeface="Arial" charset="0"/>
        </a:defRPr>
      </a:lvl3pPr>
      <a:lvl4pPr algn="ctr" defTabSz="4389438" rtl="0" fontAlgn="base">
        <a:spcBef>
          <a:spcPct val="0"/>
        </a:spcBef>
        <a:spcAft>
          <a:spcPct val="0"/>
        </a:spcAft>
        <a:defRPr sz="21100">
          <a:solidFill>
            <a:schemeClr val="tx2"/>
          </a:solidFill>
          <a:latin typeface="Arial" charset="0"/>
        </a:defRPr>
      </a:lvl4pPr>
      <a:lvl5pPr algn="ctr" defTabSz="4389438" rtl="0" fontAlgn="base">
        <a:spcBef>
          <a:spcPct val="0"/>
        </a:spcBef>
        <a:spcAft>
          <a:spcPct val="0"/>
        </a:spcAft>
        <a:defRPr sz="21100">
          <a:solidFill>
            <a:schemeClr val="tx2"/>
          </a:solidFill>
          <a:latin typeface="Arial" charset="0"/>
        </a:defRPr>
      </a:lvl5pPr>
      <a:lvl6pPr marL="457200" algn="ctr" defTabSz="4389438" rtl="0" fontAlgn="base">
        <a:spcBef>
          <a:spcPct val="0"/>
        </a:spcBef>
        <a:spcAft>
          <a:spcPct val="0"/>
        </a:spcAft>
        <a:defRPr sz="21100">
          <a:solidFill>
            <a:schemeClr val="tx2"/>
          </a:solidFill>
          <a:latin typeface="Arial" charset="0"/>
        </a:defRPr>
      </a:lvl6pPr>
      <a:lvl7pPr marL="914400" algn="ctr" defTabSz="4389438" rtl="0" fontAlgn="base">
        <a:spcBef>
          <a:spcPct val="0"/>
        </a:spcBef>
        <a:spcAft>
          <a:spcPct val="0"/>
        </a:spcAft>
        <a:defRPr sz="21100">
          <a:solidFill>
            <a:schemeClr val="tx2"/>
          </a:solidFill>
          <a:latin typeface="Arial" charset="0"/>
        </a:defRPr>
      </a:lvl7pPr>
      <a:lvl8pPr marL="1371600" algn="ctr" defTabSz="4389438" rtl="0" fontAlgn="base">
        <a:spcBef>
          <a:spcPct val="0"/>
        </a:spcBef>
        <a:spcAft>
          <a:spcPct val="0"/>
        </a:spcAft>
        <a:defRPr sz="21100">
          <a:solidFill>
            <a:schemeClr val="tx2"/>
          </a:solidFill>
          <a:latin typeface="Arial" charset="0"/>
        </a:defRPr>
      </a:lvl8pPr>
      <a:lvl9pPr marL="1828800" algn="ctr" defTabSz="4389438" rtl="0" fontAlgn="base">
        <a:spcBef>
          <a:spcPct val="0"/>
        </a:spcBef>
        <a:spcAft>
          <a:spcPct val="0"/>
        </a:spcAft>
        <a:defRPr sz="21100">
          <a:solidFill>
            <a:schemeClr val="tx2"/>
          </a:solidFill>
          <a:latin typeface="Arial" charset="0"/>
        </a:defRPr>
      </a:lvl9pPr>
    </p:titleStyle>
    <p:bodyStyle>
      <a:lvl1pPr marL="1646238" indent="-1646238" algn="l" defTabSz="4389438" rtl="0" fontAlgn="base">
        <a:spcBef>
          <a:spcPct val="20000"/>
        </a:spcBef>
        <a:spcAft>
          <a:spcPct val="0"/>
        </a:spcAft>
        <a:buChar char="•"/>
        <a:defRPr sz="15400">
          <a:solidFill>
            <a:schemeClr val="tx1"/>
          </a:solidFill>
          <a:latin typeface="+mn-lt"/>
          <a:ea typeface="+mn-ea"/>
          <a:cs typeface="+mn-cs"/>
        </a:defRPr>
      </a:lvl1pPr>
      <a:lvl2pPr marL="3565525" indent="-1371600" algn="l" defTabSz="4389438" rtl="0" fontAlgn="base">
        <a:spcBef>
          <a:spcPct val="20000"/>
        </a:spcBef>
        <a:spcAft>
          <a:spcPct val="0"/>
        </a:spcAft>
        <a:buChar char="–"/>
        <a:defRPr sz="13400">
          <a:solidFill>
            <a:schemeClr val="tx1"/>
          </a:solidFill>
          <a:latin typeface="+mn-lt"/>
        </a:defRPr>
      </a:lvl2pPr>
      <a:lvl3pPr marL="5486400" indent="-1096963" algn="l" defTabSz="4389438" rtl="0" fontAlgn="base">
        <a:spcBef>
          <a:spcPct val="20000"/>
        </a:spcBef>
        <a:spcAft>
          <a:spcPct val="0"/>
        </a:spcAft>
        <a:buChar char="•"/>
        <a:defRPr sz="11500">
          <a:solidFill>
            <a:schemeClr val="tx1"/>
          </a:solidFill>
          <a:latin typeface="+mn-lt"/>
        </a:defRPr>
      </a:lvl3pPr>
      <a:lvl4pPr marL="7680325" indent="-1096963" algn="l" defTabSz="4389438" rtl="0" fontAlgn="base">
        <a:spcBef>
          <a:spcPct val="20000"/>
        </a:spcBef>
        <a:spcAft>
          <a:spcPct val="0"/>
        </a:spcAft>
        <a:buChar char="–"/>
        <a:defRPr sz="9600">
          <a:solidFill>
            <a:schemeClr val="tx1"/>
          </a:solidFill>
          <a:latin typeface="+mn-lt"/>
        </a:defRPr>
      </a:lvl4pPr>
      <a:lvl5pPr marL="9875838" indent="-1096963" algn="l" defTabSz="4389438" rtl="0" fontAlgn="base">
        <a:spcBef>
          <a:spcPct val="20000"/>
        </a:spcBef>
        <a:spcAft>
          <a:spcPct val="0"/>
        </a:spcAft>
        <a:buChar char="»"/>
        <a:defRPr sz="9600">
          <a:solidFill>
            <a:schemeClr val="tx1"/>
          </a:solidFill>
          <a:latin typeface="+mn-lt"/>
        </a:defRPr>
      </a:lvl5pPr>
      <a:lvl6pPr marL="10333038" indent="-1096963" algn="l" defTabSz="4389438" rtl="0" fontAlgn="base">
        <a:spcBef>
          <a:spcPct val="20000"/>
        </a:spcBef>
        <a:spcAft>
          <a:spcPct val="0"/>
        </a:spcAft>
        <a:buChar char="»"/>
        <a:defRPr sz="9600">
          <a:solidFill>
            <a:schemeClr val="tx1"/>
          </a:solidFill>
          <a:latin typeface="+mn-lt"/>
        </a:defRPr>
      </a:lvl6pPr>
      <a:lvl7pPr marL="10790238" indent="-1096963" algn="l" defTabSz="4389438" rtl="0" fontAlgn="base">
        <a:spcBef>
          <a:spcPct val="20000"/>
        </a:spcBef>
        <a:spcAft>
          <a:spcPct val="0"/>
        </a:spcAft>
        <a:buChar char="»"/>
        <a:defRPr sz="9600">
          <a:solidFill>
            <a:schemeClr val="tx1"/>
          </a:solidFill>
          <a:latin typeface="+mn-lt"/>
        </a:defRPr>
      </a:lvl7pPr>
      <a:lvl8pPr marL="11247438" indent="-1096963" algn="l" defTabSz="4389438" rtl="0" fontAlgn="base">
        <a:spcBef>
          <a:spcPct val="20000"/>
        </a:spcBef>
        <a:spcAft>
          <a:spcPct val="0"/>
        </a:spcAft>
        <a:buChar char="»"/>
        <a:defRPr sz="9600">
          <a:solidFill>
            <a:schemeClr val="tx1"/>
          </a:solidFill>
          <a:latin typeface="+mn-lt"/>
        </a:defRPr>
      </a:lvl8pPr>
      <a:lvl9pPr marL="11704638" indent="-1096963" algn="l" defTabSz="4389438" rtl="0" fontAlgn="base">
        <a:spcBef>
          <a:spcPct val="20000"/>
        </a:spcBef>
        <a:spcAft>
          <a:spcPct val="0"/>
        </a:spcAft>
        <a:buChar char="»"/>
        <a:defRPr sz="9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8E377B-7FE3-796B-BC37-EC3FD74B296B}"/>
              </a:ext>
            </a:extLst>
          </p:cNvPr>
          <p:cNvSpPr txBox="1"/>
          <p:nvPr/>
        </p:nvSpPr>
        <p:spPr>
          <a:xfrm>
            <a:off x="7908313" y="7338078"/>
            <a:ext cx="22894390" cy="72635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6000" b="1" dirty="0">
                <a:latin typeface="Helvetica"/>
                <a:cs typeface="Arial"/>
              </a:rPr>
              <a:t>GFP_1 Final Poster</a:t>
            </a:r>
            <a:endParaRPr lang="en-US" sz="6000">
              <a:cs typeface="Arial"/>
            </a:endParaRPr>
          </a:p>
          <a:p>
            <a:pPr algn="ctr"/>
            <a:endParaRPr lang="en-US" sz="6000" b="1" dirty="0">
              <a:latin typeface="Helvetica"/>
              <a:cs typeface="Arial"/>
            </a:endParaRPr>
          </a:p>
          <a:p>
            <a:pPr algn="ctr"/>
            <a:r>
              <a:rPr lang="en-US" sz="6000" b="1" dirty="0">
                <a:latin typeface="Helvetica"/>
                <a:cs typeface="Helvetica"/>
              </a:rPr>
              <a:t>HIV Intervention Receipt and Care Access Among MSM, Female Sex Workers, and Transgender Women in Ecuador, 2020–2022</a:t>
            </a:r>
          </a:p>
          <a:p>
            <a:pPr algn="ctr"/>
            <a:endParaRPr lang="en-US" sz="4800" b="1" dirty="0">
              <a:latin typeface="Helvetica"/>
              <a:cs typeface="Helvetica"/>
            </a:endParaRPr>
          </a:p>
          <a:p>
            <a:pPr algn="ctr"/>
            <a:r>
              <a:rPr lang="en-US" sz="4800" b="1">
                <a:latin typeface="Helvetica"/>
                <a:cs typeface="Helvetica"/>
              </a:rPr>
              <a:t>Group Members: </a:t>
            </a:r>
            <a:r>
              <a:rPr lang="en-US" sz="4800" b="1">
                <a:latin typeface="Arial"/>
                <a:cs typeface="Arial"/>
              </a:rPr>
              <a:t>Yuyan Chen, Aidan Estes, Daniel Herrera </a:t>
            </a:r>
            <a:r>
              <a:rPr lang="en-US" sz="4800" b="1" dirty="0">
                <a:latin typeface="Helvetica"/>
                <a:cs typeface="Helvetica"/>
              </a:rPr>
              <a:t> </a:t>
            </a:r>
          </a:p>
          <a:p>
            <a:pPr algn="ctr"/>
            <a:endParaRPr lang="en-US" sz="4800" b="1" dirty="0">
              <a:latin typeface="Helvetica"/>
              <a:cs typeface="Arial"/>
            </a:endParaRPr>
          </a:p>
          <a:p>
            <a:endParaRPr lang="en-US" dirty="0">
              <a:cs typeface="Arial"/>
            </a:endParaRPr>
          </a:p>
        </p:txBody>
      </p:sp>
    </p:spTree>
    <p:extLst>
      <p:ext uri="{BB962C8B-B14F-4D97-AF65-F5344CB8AC3E}">
        <p14:creationId xmlns:p14="http://schemas.microsoft.com/office/powerpoint/2010/main" val="3105702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770FFD-77C8-A08E-9A5E-D90D6E72289B}"/>
              </a:ext>
            </a:extLst>
          </p:cNvPr>
          <p:cNvSpPr/>
          <p:nvPr/>
        </p:nvSpPr>
        <p:spPr bwMode="auto">
          <a:xfrm>
            <a:off x="5439523" y="3689550"/>
            <a:ext cx="27479293" cy="18258142"/>
          </a:xfrm>
          <a:prstGeom prst="rect">
            <a:avLst/>
          </a:prstGeom>
          <a:solidFill>
            <a:schemeClr val="bg2"/>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Arial" charset="0"/>
            </a:endParaRPr>
          </a:p>
        </p:txBody>
      </p:sp>
      <p:sp>
        <p:nvSpPr>
          <p:cNvPr id="2178" name="Text Box 130"/>
          <p:cNvSpPr txBox="1">
            <a:spLocks noChangeArrowheads="1"/>
          </p:cNvSpPr>
          <p:nvPr/>
        </p:nvSpPr>
        <p:spPr bwMode="auto">
          <a:xfrm>
            <a:off x="5422223" y="3705231"/>
            <a:ext cx="82264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altLang="zh-CN" sz="3200" b="1">
                <a:latin typeface="Helvetica" pitchFamily="2" charset="0"/>
              </a:rPr>
              <a:t>BACKGROUND</a:t>
            </a:r>
            <a:endParaRPr lang="en-US" sz="3200" b="1">
              <a:latin typeface="Helvetica" pitchFamily="2" charset="0"/>
              <a:cs typeface="Helvetica" pitchFamily="2" charset="0"/>
            </a:endParaRPr>
          </a:p>
        </p:txBody>
      </p:sp>
      <p:sp>
        <p:nvSpPr>
          <p:cNvPr id="2179" name="Text Box 131"/>
          <p:cNvSpPr txBox="1">
            <a:spLocks noChangeArrowheads="1"/>
          </p:cNvSpPr>
          <p:nvPr/>
        </p:nvSpPr>
        <p:spPr bwMode="auto">
          <a:xfrm>
            <a:off x="6612198" y="9578112"/>
            <a:ext cx="5846474"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sz="3200" b="1">
                <a:latin typeface="Helvetica" pitchFamily="2" charset="0"/>
              </a:rPr>
              <a:t>METHODS</a:t>
            </a:r>
            <a:endParaRPr lang="en-US"/>
          </a:p>
        </p:txBody>
      </p:sp>
      <p:sp>
        <p:nvSpPr>
          <p:cNvPr id="2182" name="Text Box 134"/>
          <p:cNvSpPr txBox="1">
            <a:spLocks noChangeArrowheads="1"/>
          </p:cNvSpPr>
          <p:nvPr/>
        </p:nvSpPr>
        <p:spPr bwMode="auto">
          <a:xfrm>
            <a:off x="27317570" y="8479554"/>
            <a:ext cx="4923422" cy="1098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altLang="zh-CN" sz="3200" b="1">
                <a:latin typeface="Helvetica"/>
                <a:cs typeface="Helvetica"/>
              </a:rPr>
              <a:t>LIMITATIONS/</a:t>
            </a:r>
            <a:r>
              <a:rPr lang="zh-CN" altLang="en-US" sz="3200" b="1">
                <a:latin typeface="Helvetica"/>
                <a:cs typeface="Helvetica"/>
              </a:rPr>
              <a:t> </a:t>
            </a:r>
            <a:endParaRPr lang="en-US" altLang="zh-CN" sz="3200" b="1">
              <a:latin typeface="Helvetica"/>
              <a:cs typeface="Helvetica"/>
            </a:endParaRPr>
          </a:p>
          <a:p>
            <a:pPr algn="ctr"/>
            <a:r>
              <a:rPr lang="en-US" altLang="zh-CN" sz="3200" b="1">
                <a:latin typeface="Helvetica"/>
                <a:cs typeface="Helvetica"/>
              </a:rPr>
              <a:t>RECOMMENDATIONS</a:t>
            </a:r>
            <a:endParaRPr lang="en-US" sz="3200" b="1">
              <a:latin typeface="Helvetica"/>
              <a:cs typeface="Helvetica"/>
            </a:endParaRPr>
          </a:p>
          <a:p>
            <a:pPr algn="ctr"/>
            <a:endParaRPr lang="en-US" sz="3200" b="1">
              <a:latin typeface="Helvetica" pitchFamily="2" charset="0"/>
              <a:cs typeface="Helvetica" pitchFamily="2" charset="0"/>
            </a:endParaRPr>
          </a:p>
        </p:txBody>
      </p:sp>
      <p:sp>
        <p:nvSpPr>
          <p:cNvPr id="2183" name="Text Box 135"/>
          <p:cNvSpPr txBox="1">
            <a:spLocks noChangeArrowheads="1"/>
          </p:cNvSpPr>
          <p:nvPr/>
        </p:nvSpPr>
        <p:spPr bwMode="auto">
          <a:xfrm>
            <a:off x="12785383" y="3653111"/>
            <a:ext cx="822801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sz="3200" b="1">
                <a:latin typeface="Helvetica" pitchFamily="2" charset="0"/>
              </a:rPr>
              <a:t>RESULTS</a:t>
            </a:r>
            <a:endParaRPr lang="en-US"/>
          </a:p>
        </p:txBody>
      </p:sp>
      <p:sp>
        <p:nvSpPr>
          <p:cNvPr id="2230" name="Text Box 182"/>
          <p:cNvSpPr txBox="1">
            <a:spLocks noChangeArrowheads="1"/>
          </p:cNvSpPr>
          <p:nvPr/>
        </p:nvSpPr>
        <p:spPr bwMode="auto">
          <a:xfrm>
            <a:off x="304800" y="3726732"/>
            <a:ext cx="4572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0"/>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altLang="zh-CN" sz="3200" b="1">
                <a:solidFill>
                  <a:schemeClr val="bg1"/>
                </a:solidFill>
                <a:latin typeface="Helvetica" pitchFamily="2" charset="0"/>
              </a:rPr>
              <a:t>RESEARCH</a:t>
            </a:r>
            <a:r>
              <a:rPr lang="zh-CN" altLang="en-US" sz="3200" b="1">
                <a:solidFill>
                  <a:schemeClr val="bg1"/>
                </a:solidFill>
                <a:latin typeface="Helvetica" pitchFamily="2" charset="0"/>
              </a:rPr>
              <a:t> </a:t>
            </a:r>
            <a:r>
              <a:rPr lang="en-US" altLang="zh-CN" sz="3200" b="1">
                <a:solidFill>
                  <a:schemeClr val="bg1"/>
                </a:solidFill>
                <a:latin typeface="Helvetica" pitchFamily="2" charset="0"/>
              </a:rPr>
              <a:t>QUESTION</a:t>
            </a:r>
            <a:endParaRPr lang="en-US" sz="3200" b="1">
              <a:solidFill>
                <a:schemeClr val="bg1"/>
              </a:solidFill>
              <a:latin typeface="Helvetica" pitchFamily="2" charset="0"/>
            </a:endParaRPr>
          </a:p>
        </p:txBody>
      </p:sp>
      <p:sp>
        <p:nvSpPr>
          <p:cNvPr id="2237" name="Text Box 189"/>
          <p:cNvSpPr txBox="1">
            <a:spLocks noChangeArrowheads="1"/>
          </p:cNvSpPr>
          <p:nvPr/>
        </p:nvSpPr>
        <p:spPr bwMode="auto">
          <a:xfrm>
            <a:off x="423663" y="4626562"/>
            <a:ext cx="4572000" cy="2708434"/>
          </a:xfrm>
          <a:prstGeom prst="rect">
            <a:avLst/>
          </a:prstGeom>
          <a:solidFill>
            <a:schemeClr val="accent1">
              <a:lumMod val="75000"/>
            </a:schemeClr>
          </a:solidFill>
          <a:ln>
            <a:noFill/>
          </a:ln>
          <a:effectLst/>
        </p:spPr>
        <p:txBody>
          <a:bodyPr lIns="182880" tIns="182880" rIns="182880" bIns="182880" anchor="t">
            <a:spAutoFit/>
          </a:bodyPr>
          <a:lstStyle/>
          <a:p>
            <a:pPr lvl="0" defTabSz="4023067" fontAlgn="auto">
              <a:spcBef>
                <a:spcPts val="0"/>
              </a:spcBef>
              <a:spcAft>
                <a:spcPts val="0"/>
              </a:spcAft>
            </a:pPr>
            <a:r>
              <a:rPr lang="en-US" sz="1900">
                <a:solidFill>
                  <a:schemeClr val="bg1">
                    <a:lumMod val="95000"/>
                  </a:schemeClr>
                </a:solidFill>
                <a:latin typeface="Helvetica"/>
                <a:cs typeface="Helvetica"/>
              </a:rPr>
              <a:t>What is the relationship between demographic factors and the </a:t>
            </a:r>
            <a:r>
              <a:rPr lang="en-US" altLang="zh-CN" sz="1900">
                <a:solidFill>
                  <a:schemeClr val="bg1">
                    <a:lumMod val="95000"/>
                  </a:schemeClr>
                </a:solidFill>
                <a:latin typeface="Helvetica"/>
                <a:cs typeface="Helvetica"/>
              </a:rPr>
              <a:t>receipt</a:t>
            </a:r>
            <a:r>
              <a:rPr lang="en-US" sz="1900">
                <a:solidFill>
                  <a:schemeClr val="bg1">
                    <a:lumMod val="95000"/>
                  </a:schemeClr>
                </a:solidFill>
                <a:latin typeface="Helvetica"/>
                <a:cs typeface="Helvetica"/>
              </a:rPr>
              <a:t> of the HIV intervention –</a:t>
            </a:r>
            <a:r>
              <a:rPr lang="zh-CN" altLang="en-US" sz="1900">
                <a:solidFill>
                  <a:schemeClr val="bg1">
                    <a:lumMod val="95000"/>
                  </a:schemeClr>
                </a:solidFill>
                <a:latin typeface="Helvetica"/>
                <a:cs typeface="Helvetica"/>
              </a:rPr>
              <a:t> </a:t>
            </a:r>
            <a:r>
              <a:rPr lang="en-US" sz="1900">
                <a:solidFill>
                  <a:schemeClr val="bg1">
                    <a:lumMod val="95000"/>
                  </a:schemeClr>
                </a:solidFill>
                <a:latin typeface="Helvetica"/>
                <a:cs typeface="Helvetica"/>
              </a:rPr>
              <a:t>condom and lubricant distribution, and screening – and subsequent access to care among high-risk populations in the 17 Ecuadorian cantons covered between 2020 and 2022?</a:t>
            </a:r>
            <a:endParaRPr lang="en-US">
              <a:solidFill>
                <a:schemeClr val="bg1">
                  <a:lumMod val="95000"/>
                </a:schemeClr>
              </a:solidFill>
              <a:latin typeface="Helvetica"/>
              <a:cs typeface="Helvetica"/>
            </a:endParaRPr>
          </a:p>
        </p:txBody>
      </p:sp>
      <p:sp>
        <p:nvSpPr>
          <p:cNvPr id="2239" name="Text Box 191"/>
          <p:cNvSpPr txBox="1">
            <a:spLocks noChangeArrowheads="1"/>
          </p:cNvSpPr>
          <p:nvPr/>
        </p:nvSpPr>
        <p:spPr bwMode="auto">
          <a:xfrm>
            <a:off x="27012061" y="9528368"/>
            <a:ext cx="5555994" cy="12003286"/>
          </a:xfrm>
          <a:prstGeom prst="rect">
            <a:avLst/>
          </a:prstGeom>
          <a:solidFill>
            <a:schemeClr val="bg1"/>
          </a:solidFill>
          <a:ln>
            <a:noFill/>
          </a:ln>
          <a:effectLst/>
        </p:spPr>
        <p:txBody>
          <a:bodyPr wrap="square" lIns="182880" tIns="182880" rIns="182880" bIns="182880" numCol="1" anchor="t">
            <a:spAutoFit/>
          </a:bodyPr>
          <a:lstStyle/>
          <a:p>
            <a:pPr lvl="0" defTabSz="4023067" fontAlgn="auto">
              <a:spcBef>
                <a:spcPts val="0"/>
              </a:spcBef>
              <a:spcAft>
                <a:spcPts val="0"/>
              </a:spcAft>
            </a:pPr>
            <a:r>
              <a:rPr lang="en-US" altLang="zh-CN" sz="1900" b="1" i="1">
                <a:solidFill>
                  <a:prstClr val="black"/>
                </a:solidFill>
                <a:latin typeface="Helvetica"/>
                <a:cs typeface="Helvetica"/>
              </a:rPr>
              <a:t>LIMITATIONS</a:t>
            </a:r>
            <a:endParaRPr lang="en-US" sz="1900" b="1" i="1">
              <a:solidFill>
                <a:prstClr val="black"/>
              </a:solidFill>
              <a:latin typeface="Helvetica"/>
              <a:cs typeface="Helvetica"/>
            </a:endParaRPr>
          </a:p>
          <a:p>
            <a:pPr marL="342900" lvl="0" indent="-342900" defTabSz="4023067" fontAlgn="auto">
              <a:spcBef>
                <a:spcPts val="0"/>
              </a:spcBef>
              <a:spcAft>
                <a:spcPts val="0"/>
              </a:spcAft>
              <a:buFont typeface="Arial" panose="020B0604020202020204" pitchFamily="34" charset="0"/>
              <a:buChar char="•"/>
            </a:pPr>
            <a:r>
              <a:rPr lang="en-US" sz="1900">
                <a:solidFill>
                  <a:prstClr val="black"/>
                </a:solidFill>
                <a:latin typeface="Helvetica"/>
                <a:cs typeface="Helvetica"/>
              </a:rPr>
              <a:t>Project inactivity for two years limited intervention details.</a:t>
            </a:r>
          </a:p>
          <a:p>
            <a:pPr marL="342900" lvl="0" indent="-342900" defTabSz="4023067" fontAlgn="auto">
              <a:spcBef>
                <a:spcPts val="0"/>
              </a:spcBef>
              <a:spcAft>
                <a:spcPts val="0"/>
              </a:spcAft>
              <a:buFont typeface="Arial" panose="020B0604020202020204" pitchFamily="34" charset="0"/>
              <a:buChar char="•"/>
            </a:pPr>
            <a:r>
              <a:rPr lang="en-US" sz="1900">
                <a:solidFill>
                  <a:prstClr val="black"/>
                </a:solidFill>
                <a:latin typeface="Helvetica"/>
                <a:cs typeface="Helvetica"/>
              </a:rPr>
              <a:t>Poisson regression was used instead of logistic regression; IRRs approximate prevalence ratios, possibly affecting interpretation.</a:t>
            </a:r>
          </a:p>
          <a:p>
            <a:pPr marL="342900" indent="-342900" defTabSz="4023067" fontAlgn="auto">
              <a:spcBef>
                <a:spcPts val="0"/>
              </a:spcBef>
              <a:spcAft>
                <a:spcPts val="0"/>
              </a:spcAft>
              <a:buFont typeface="Arial" panose="020B0604020202020204" pitchFamily="34" charset="0"/>
              <a:buChar char="•"/>
            </a:pPr>
            <a:r>
              <a:rPr lang="en-US" sz="1900">
                <a:solidFill>
                  <a:prstClr val="black"/>
                </a:solidFill>
                <a:latin typeface="Helvetica"/>
                <a:cs typeface="Helvetica"/>
              </a:rPr>
              <a:t>Inconsistent data collection and supply issues affected lubricant data quality.</a:t>
            </a:r>
          </a:p>
          <a:p>
            <a:pPr marL="342900" indent="-342900" defTabSz="4023067" fontAlgn="auto">
              <a:spcBef>
                <a:spcPts val="0"/>
              </a:spcBef>
              <a:spcAft>
                <a:spcPts val="0"/>
              </a:spcAft>
              <a:buFont typeface="Arial" panose="020B0604020202020204" pitchFamily="34" charset="0"/>
              <a:buChar char="•"/>
            </a:pPr>
            <a:r>
              <a:rPr lang="en-US" sz="1900">
                <a:solidFill>
                  <a:prstClr val="black"/>
                </a:solidFill>
                <a:latin typeface="Helvetica"/>
                <a:cs typeface="Helvetica"/>
              </a:rPr>
              <a:t>Some participants not receiving lubricant may have been miscoded as not receiving condoms.</a:t>
            </a:r>
          </a:p>
          <a:p>
            <a:pPr marL="342900" lvl="0" indent="-342900" defTabSz="4023067" fontAlgn="auto">
              <a:spcBef>
                <a:spcPts val="0"/>
              </a:spcBef>
              <a:spcAft>
                <a:spcPts val="0"/>
              </a:spcAft>
              <a:buFont typeface="Arial" panose="020B0604020202020204" pitchFamily="34" charset="0"/>
              <a:buChar char="•"/>
            </a:pPr>
            <a:r>
              <a:rPr lang="en-US" sz="1900">
                <a:solidFill>
                  <a:prstClr val="black"/>
                </a:solidFill>
                <a:latin typeface="Helvetica"/>
                <a:cs typeface="Helvetica"/>
              </a:rPr>
              <a:t>Self-reports may introduce bias.</a:t>
            </a:r>
          </a:p>
          <a:p>
            <a:pPr marL="342900" indent="-342900" defTabSz="4023067" fontAlgn="auto">
              <a:spcBef>
                <a:spcPts val="0"/>
              </a:spcBef>
              <a:spcAft>
                <a:spcPts val="0"/>
              </a:spcAft>
              <a:buFont typeface="Arial" panose="020B0604020202020204" pitchFamily="34" charset="0"/>
              <a:buChar char="•"/>
            </a:pPr>
            <a:r>
              <a:rPr lang="en-US" altLang="zh-CN" sz="1900">
                <a:solidFill>
                  <a:prstClr val="black"/>
                </a:solidFill>
                <a:latin typeface="Helvetica"/>
                <a:cs typeface="Helvetica"/>
              </a:rPr>
              <a:t>Small HIV-positive subset sample limits power and generalizability of care access analysis.</a:t>
            </a:r>
          </a:p>
          <a:p>
            <a:pPr marL="342900" indent="-342900" defTabSz="4023067" fontAlgn="auto">
              <a:spcBef>
                <a:spcPts val="0"/>
              </a:spcBef>
              <a:spcAft>
                <a:spcPts val="0"/>
              </a:spcAft>
              <a:buFont typeface="Arial" panose="020B0604020202020204" pitchFamily="34" charset="0"/>
              <a:buChar char="•"/>
            </a:pPr>
            <a:endParaRPr lang="en-US" sz="1900">
              <a:solidFill>
                <a:prstClr val="black"/>
              </a:solidFill>
              <a:latin typeface="Helvetica" pitchFamily="2" charset="0"/>
              <a:cs typeface="Helvetica"/>
            </a:endParaRPr>
          </a:p>
          <a:p>
            <a:pPr lvl="0" defTabSz="4023067" fontAlgn="auto">
              <a:spcBef>
                <a:spcPts val="0"/>
              </a:spcBef>
              <a:spcAft>
                <a:spcPts val="0"/>
              </a:spcAft>
            </a:pPr>
            <a:r>
              <a:rPr lang="en-US" altLang="zh-CN" sz="1900" b="1" i="1">
                <a:solidFill>
                  <a:prstClr val="black"/>
                </a:solidFill>
                <a:latin typeface="Helvetica"/>
                <a:cs typeface="Helvetica"/>
              </a:rPr>
              <a:t>RECOMMENDATIONS</a:t>
            </a:r>
          </a:p>
          <a:p>
            <a:pPr marL="342900" indent="-342900" defTabSz="4023067" fontAlgn="auto">
              <a:spcBef>
                <a:spcPts val="0"/>
              </a:spcBef>
              <a:spcAft>
                <a:spcPts val="0"/>
              </a:spcAft>
              <a:buFont typeface="Arial" panose="020B0604020202020204" pitchFamily="34" charset="0"/>
              <a:buChar char="•"/>
            </a:pPr>
            <a:r>
              <a:rPr lang="en-US" sz="1900">
                <a:solidFill>
                  <a:prstClr val="black"/>
                </a:solidFill>
                <a:latin typeface="Helvetica"/>
                <a:cs typeface="Helvetica"/>
              </a:rPr>
              <a:t>Strengthen supply chains to prevent material shortages.</a:t>
            </a:r>
          </a:p>
          <a:p>
            <a:pPr marL="342900" indent="-342900" defTabSz="4023067" fontAlgn="auto">
              <a:spcBef>
                <a:spcPts val="0"/>
              </a:spcBef>
              <a:spcAft>
                <a:spcPts val="0"/>
              </a:spcAft>
              <a:buFont typeface="Arial" panose="020B0604020202020204" pitchFamily="34" charset="0"/>
              <a:buChar char="•"/>
            </a:pPr>
            <a:r>
              <a:rPr lang="en-US" altLang="zh-CN" sz="1900">
                <a:solidFill>
                  <a:prstClr val="black"/>
                </a:solidFill>
                <a:latin typeface="Helvetica"/>
                <a:cs typeface="Helvetica"/>
              </a:rPr>
              <a:t>Implement longitudinal follow-up to assess long-term outcomes.</a:t>
            </a:r>
            <a:r>
              <a:rPr lang="en-US" sz="1900">
                <a:solidFill>
                  <a:prstClr val="black"/>
                </a:solidFill>
                <a:latin typeface="Helvetica"/>
                <a:cs typeface="Helvetica"/>
              </a:rPr>
              <a:t> </a:t>
            </a:r>
          </a:p>
          <a:p>
            <a:pPr marL="342900" lvl="0" indent="-342900" defTabSz="4023067" fontAlgn="auto">
              <a:spcBef>
                <a:spcPts val="0"/>
              </a:spcBef>
              <a:spcAft>
                <a:spcPts val="0"/>
              </a:spcAft>
              <a:buFont typeface="Arial" panose="020B0604020202020204" pitchFamily="34" charset="0"/>
              <a:buChar char="•"/>
            </a:pPr>
            <a:r>
              <a:rPr lang="en-US" sz="1900">
                <a:solidFill>
                  <a:prstClr val="black"/>
                </a:solidFill>
                <a:latin typeface="Helvetica"/>
                <a:cs typeface="Helvetica"/>
              </a:rPr>
              <a:t>Develop a monitoring and evaluation framework with clear standards and indicators.</a:t>
            </a:r>
            <a:endParaRPr lang="en-US" altLang="zh-CN" sz="1900">
              <a:solidFill>
                <a:prstClr val="black"/>
              </a:solidFill>
              <a:latin typeface="Helvetica" pitchFamily="2" charset="0"/>
              <a:cs typeface="Helvetica" pitchFamily="2" charset="0"/>
            </a:endParaRPr>
          </a:p>
          <a:p>
            <a:pPr lvl="0" defTabSz="4023067">
              <a:spcBef>
                <a:spcPts val="0"/>
              </a:spcBef>
              <a:spcAft>
                <a:spcPts val="0"/>
              </a:spcAft>
            </a:pPr>
            <a:endParaRPr lang="en-US" altLang="zh-CN" sz="1900">
              <a:solidFill>
                <a:prstClr val="black"/>
              </a:solidFill>
              <a:latin typeface="Helvetica" pitchFamily="2" charset="0"/>
              <a:cs typeface="Helvetica" pitchFamily="2" charset="0"/>
            </a:endParaRPr>
          </a:p>
          <a:p>
            <a:pPr defTabSz="4023067"/>
            <a:r>
              <a:rPr lang="en-US" altLang="zh-CN" sz="1800" b="1" i="1">
                <a:solidFill>
                  <a:prstClr val="black"/>
                </a:solidFill>
                <a:latin typeface="Helvetica"/>
                <a:cs typeface="Helvetica"/>
              </a:rPr>
              <a:t>CONTRIBUTIONS</a:t>
            </a:r>
            <a:endParaRPr lang="en-US" sz="1800" b="1" i="1">
              <a:solidFill>
                <a:prstClr val="black"/>
              </a:solidFill>
              <a:latin typeface="Helvetica"/>
              <a:cs typeface="Helvetica"/>
            </a:endParaRPr>
          </a:p>
          <a:p>
            <a:pPr defTabSz="4023067"/>
            <a:r>
              <a:rPr lang="en-US" sz="1700">
                <a:solidFill>
                  <a:prstClr val="black"/>
                </a:solidFill>
                <a:latin typeface="Helvetica"/>
                <a:cs typeface="Helvetica"/>
              </a:rPr>
              <a:t>We worked together on</a:t>
            </a:r>
          </a:p>
          <a:p>
            <a:pPr marL="285750" indent="-285750" defTabSz="4023067">
              <a:buFont typeface="Arial" panose="020B0604020202020204" pitchFamily="34" charset="0"/>
              <a:buChar char="•"/>
            </a:pPr>
            <a:r>
              <a:rPr lang="en-US" sz="1700">
                <a:solidFill>
                  <a:prstClr val="black"/>
                </a:solidFill>
                <a:latin typeface="Helvetica"/>
                <a:cs typeface="Helvetica"/>
              </a:rPr>
              <a:t>Literature Review</a:t>
            </a:r>
          </a:p>
          <a:p>
            <a:pPr marL="285750" indent="-285750" defTabSz="4023067">
              <a:buFont typeface="Arial" panose="020B0604020202020204" pitchFamily="34" charset="0"/>
              <a:buChar char="•"/>
            </a:pPr>
            <a:r>
              <a:rPr lang="en-US" sz="1700">
                <a:solidFill>
                  <a:prstClr val="black"/>
                </a:solidFill>
                <a:latin typeface="Helvetica"/>
                <a:cs typeface="Helvetica"/>
              </a:rPr>
              <a:t>Analysis Plan</a:t>
            </a:r>
            <a:r>
              <a:rPr lang="zh-CN" altLang="en-US" sz="1700">
                <a:solidFill>
                  <a:prstClr val="black"/>
                </a:solidFill>
                <a:latin typeface="Helvetica"/>
                <a:cs typeface="Helvetica"/>
              </a:rPr>
              <a:t> </a:t>
            </a:r>
            <a:r>
              <a:rPr lang="en-US" altLang="zh-CN" sz="1700">
                <a:solidFill>
                  <a:prstClr val="black"/>
                </a:solidFill>
                <a:latin typeface="Helvetica"/>
                <a:cs typeface="Helvetica"/>
              </a:rPr>
              <a:t>and</a:t>
            </a:r>
            <a:r>
              <a:rPr lang="zh-CN" altLang="en-US" sz="1700">
                <a:solidFill>
                  <a:prstClr val="black"/>
                </a:solidFill>
                <a:latin typeface="Helvetica"/>
                <a:cs typeface="Helvetica"/>
              </a:rPr>
              <a:t> </a:t>
            </a:r>
            <a:r>
              <a:rPr lang="en-US" sz="1700">
                <a:solidFill>
                  <a:prstClr val="black"/>
                </a:solidFill>
                <a:latin typeface="Helvetica"/>
                <a:cs typeface="Helvetica"/>
              </a:rPr>
              <a:t>Data Dictionary</a:t>
            </a:r>
          </a:p>
          <a:p>
            <a:pPr defTabSz="4023067"/>
            <a:endParaRPr lang="en-US" sz="1800">
              <a:solidFill>
                <a:prstClr val="black"/>
              </a:solidFill>
              <a:latin typeface="Helvetica"/>
              <a:cs typeface="Helvetica"/>
            </a:endParaRPr>
          </a:p>
          <a:p>
            <a:pPr defTabSz="4023067"/>
            <a:r>
              <a:rPr lang="en-US" altLang="zh-CN" sz="1800" b="1" i="1">
                <a:solidFill>
                  <a:prstClr val="black"/>
                </a:solidFill>
                <a:latin typeface="Helvetica"/>
                <a:cs typeface="Helvetica"/>
              </a:rPr>
              <a:t>REFERENCES</a:t>
            </a:r>
            <a:r>
              <a:rPr lang="zh-CN" altLang="en-US" sz="1800">
                <a:solidFill>
                  <a:prstClr val="black"/>
                </a:solidFill>
                <a:latin typeface="Helvetica"/>
                <a:cs typeface="Helvetica"/>
              </a:rPr>
              <a:t> </a:t>
            </a:r>
            <a:endParaRPr lang="en-US" sz="1800">
              <a:solidFill>
                <a:prstClr val="black"/>
              </a:solidFill>
              <a:latin typeface="Helvetica"/>
              <a:cs typeface="Helvetica"/>
            </a:endParaRPr>
          </a:p>
          <a:p>
            <a:pPr marL="457200" indent="-457200" defTabSz="4023067">
              <a:spcBef>
                <a:spcPts val="0"/>
              </a:spcBef>
              <a:spcAft>
                <a:spcPts val="0"/>
              </a:spcAft>
              <a:buFont typeface="+mj-lt"/>
              <a:buAutoNum type="arabicPeriod"/>
            </a:pPr>
            <a:r>
              <a:rPr lang="en-US" altLang="zh-CN" sz="1700">
                <a:solidFill>
                  <a:prstClr val="black"/>
                </a:solidFill>
                <a:latin typeface="Helvetica" pitchFamily="2" charset="0"/>
                <a:cs typeface="Helvetica" pitchFamily="2" charset="0"/>
              </a:rPr>
              <a:t>Balogun K, </a:t>
            </a:r>
            <a:r>
              <a:rPr lang="en-US" altLang="zh-CN" sz="1700" err="1">
                <a:solidFill>
                  <a:prstClr val="black"/>
                </a:solidFill>
                <a:latin typeface="Helvetica" pitchFamily="2" charset="0"/>
                <a:cs typeface="Helvetica" pitchFamily="2" charset="0"/>
              </a:rPr>
              <a:t>Slev</a:t>
            </a:r>
            <a:r>
              <a:rPr lang="en-US" altLang="zh-CN" sz="1700">
                <a:solidFill>
                  <a:prstClr val="black"/>
                </a:solidFill>
                <a:latin typeface="Helvetica" pitchFamily="2" charset="0"/>
                <a:cs typeface="Helvetica" pitchFamily="2" charset="0"/>
              </a:rPr>
              <a:t> PR.</a:t>
            </a:r>
            <a:r>
              <a:rPr lang="zh-CN" altLang="en-US" sz="1700">
                <a:solidFill>
                  <a:prstClr val="black"/>
                </a:solidFill>
                <a:latin typeface="Helvetica" pitchFamily="2" charset="0"/>
                <a:cs typeface="Helvetica" pitchFamily="2" charset="0"/>
              </a:rPr>
              <a:t> </a:t>
            </a:r>
            <a:r>
              <a:rPr lang="en-US" altLang="zh-CN" sz="1700">
                <a:solidFill>
                  <a:prstClr val="black"/>
                </a:solidFill>
                <a:latin typeface="Helvetica" pitchFamily="2" charset="0"/>
                <a:cs typeface="Helvetica" pitchFamily="2" charset="0"/>
              </a:rPr>
              <a:t>Clinical Biochemistry.</a:t>
            </a:r>
          </a:p>
          <a:p>
            <a:pPr marL="457200" indent="-457200" defTabSz="4023067">
              <a:spcBef>
                <a:spcPts val="0"/>
              </a:spcBef>
              <a:spcAft>
                <a:spcPts val="0"/>
              </a:spcAft>
              <a:buFont typeface="+mj-lt"/>
              <a:buAutoNum type="arabicPeriod"/>
            </a:pPr>
            <a:r>
              <a:rPr lang="en-US" altLang="zh-CN" sz="1700">
                <a:solidFill>
                  <a:prstClr val="black"/>
                </a:solidFill>
                <a:latin typeface="Helvetica" pitchFamily="2" charset="0"/>
                <a:cs typeface="Helvetica" pitchFamily="2" charset="0"/>
              </a:rPr>
              <a:t>Luz PM, Veloso VG, </a:t>
            </a:r>
            <a:r>
              <a:rPr lang="en-US" altLang="zh-CN" sz="1700" err="1">
                <a:solidFill>
                  <a:prstClr val="black"/>
                </a:solidFill>
                <a:latin typeface="Helvetica" pitchFamily="2" charset="0"/>
                <a:cs typeface="Helvetica" pitchFamily="2" charset="0"/>
              </a:rPr>
              <a:t>Grinsztejn</a:t>
            </a:r>
            <a:r>
              <a:rPr lang="en-US" altLang="zh-CN" sz="1700">
                <a:solidFill>
                  <a:prstClr val="black"/>
                </a:solidFill>
                <a:latin typeface="Helvetica" pitchFamily="2" charset="0"/>
                <a:cs typeface="Helvetica" pitchFamily="2" charset="0"/>
              </a:rPr>
              <a:t> B.</a:t>
            </a:r>
            <a:r>
              <a:rPr lang="zh-CN" altLang="en-US" sz="1700">
                <a:solidFill>
                  <a:prstClr val="black"/>
                </a:solidFill>
                <a:latin typeface="Helvetica" pitchFamily="2" charset="0"/>
                <a:cs typeface="Helvetica" pitchFamily="2" charset="0"/>
              </a:rPr>
              <a:t> </a:t>
            </a:r>
            <a:r>
              <a:rPr lang="en-US" altLang="zh-CN" sz="1700">
                <a:solidFill>
                  <a:prstClr val="black"/>
                </a:solidFill>
                <a:latin typeface="Helvetica" pitchFamily="2" charset="0"/>
                <a:cs typeface="Helvetica" pitchFamily="2" charset="0"/>
              </a:rPr>
              <a:t>Current Opinion in HIV and AIDS.</a:t>
            </a:r>
          </a:p>
          <a:p>
            <a:pPr marL="457200" indent="-457200" defTabSz="4023067">
              <a:spcBef>
                <a:spcPts val="0"/>
              </a:spcBef>
              <a:spcAft>
                <a:spcPts val="0"/>
              </a:spcAft>
              <a:buFont typeface="+mj-lt"/>
              <a:buAutoNum type="arabicPeriod"/>
            </a:pPr>
            <a:r>
              <a:rPr lang="en-US" altLang="zh-CN" sz="1700">
                <a:solidFill>
                  <a:prstClr val="black"/>
                </a:solidFill>
                <a:latin typeface="Helvetica" pitchFamily="2" charset="0"/>
                <a:cs typeface="Helvetica" pitchFamily="2" charset="0"/>
              </a:rPr>
              <a:t>Ecuador [Internet].</a:t>
            </a:r>
            <a:r>
              <a:rPr lang="zh-CN" altLang="en-US" sz="1700">
                <a:solidFill>
                  <a:prstClr val="black"/>
                </a:solidFill>
                <a:latin typeface="Helvetica" pitchFamily="2" charset="0"/>
                <a:cs typeface="Helvetica" pitchFamily="2" charset="0"/>
              </a:rPr>
              <a:t> </a:t>
            </a:r>
            <a:r>
              <a:rPr lang="en-US" altLang="zh-CN" sz="1700">
                <a:solidFill>
                  <a:prstClr val="black"/>
                </a:solidFill>
                <a:latin typeface="Helvetica" pitchFamily="2" charset="0"/>
                <a:cs typeface="Helvetica" pitchFamily="2" charset="0"/>
              </a:rPr>
              <a:t>USAIDS.</a:t>
            </a:r>
          </a:p>
          <a:p>
            <a:pPr marL="457200" indent="-457200" defTabSz="4023067">
              <a:spcBef>
                <a:spcPts val="0"/>
              </a:spcBef>
              <a:spcAft>
                <a:spcPts val="0"/>
              </a:spcAft>
              <a:buFont typeface="+mj-lt"/>
              <a:buAutoNum type="arabicPeriod"/>
            </a:pPr>
            <a:endParaRPr lang="en-US" altLang="zh-CN" sz="1900">
              <a:solidFill>
                <a:prstClr val="black"/>
              </a:solidFill>
              <a:latin typeface="Helvetica" pitchFamily="2" charset="0"/>
              <a:cs typeface="Helvetica" pitchFamily="2" charset="0"/>
            </a:endParaRPr>
          </a:p>
          <a:p>
            <a:pPr defTabSz="4023067">
              <a:spcBef>
                <a:spcPts val="0"/>
              </a:spcBef>
              <a:spcAft>
                <a:spcPts val="0"/>
              </a:spcAft>
            </a:pPr>
            <a:r>
              <a:rPr lang="en-US" sz="1900" b="1" i="1">
                <a:solidFill>
                  <a:prstClr val="black"/>
                </a:solidFill>
                <a:latin typeface="Helvetica"/>
                <a:cs typeface="Helvetica"/>
              </a:rPr>
              <a:t>ACKNOWLEDGEMENTS:</a:t>
            </a:r>
            <a:r>
              <a:rPr lang="en-US" sz="1900">
                <a:solidFill>
                  <a:prstClr val="black"/>
                </a:solidFill>
                <a:latin typeface="Helvetica"/>
                <a:cs typeface="Helvetica"/>
              </a:rPr>
              <a:t> </a:t>
            </a:r>
            <a:r>
              <a:rPr lang="en-US" sz="1700">
                <a:solidFill>
                  <a:prstClr val="black"/>
                </a:solidFill>
                <a:latin typeface="Helvetica"/>
                <a:cs typeface="Helvetica"/>
              </a:rPr>
              <a:t>CARE (Hannah </a:t>
            </a:r>
            <a:r>
              <a:rPr lang="en-US" sz="1700" err="1">
                <a:solidFill>
                  <a:prstClr val="black"/>
                </a:solidFill>
                <a:latin typeface="Helvetica"/>
                <a:cs typeface="Helvetica"/>
              </a:rPr>
              <a:t>Anolik</a:t>
            </a:r>
            <a:r>
              <a:rPr lang="en-US" sz="1700">
                <a:solidFill>
                  <a:prstClr val="black"/>
                </a:solidFill>
                <a:latin typeface="Helvetica"/>
                <a:cs typeface="Helvetica"/>
              </a:rPr>
              <a:t>, David Sánchez, and Caitlin Shannon) and Emory (Dr. Julie </a:t>
            </a:r>
            <a:r>
              <a:rPr lang="en-US" sz="1700" err="1">
                <a:solidFill>
                  <a:prstClr val="black"/>
                </a:solidFill>
                <a:latin typeface="Helvetica"/>
                <a:cs typeface="Helvetica"/>
              </a:rPr>
              <a:t>Gazmararian</a:t>
            </a:r>
            <a:r>
              <a:rPr lang="en-US" sz="1700">
                <a:solidFill>
                  <a:prstClr val="black"/>
                </a:solidFill>
                <a:latin typeface="Helvetica"/>
                <a:cs typeface="Helvetica"/>
              </a:rPr>
              <a:t>, and Matheus </a:t>
            </a:r>
            <a:r>
              <a:rPr lang="en-US" sz="1700" err="1">
                <a:solidFill>
                  <a:prstClr val="black"/>
                </a:solidFill>
                <a:latin typeface="Helvetica"/>
                <a:cs typeface="Helvetica"/>
              </a:rPr>
              <a:t>Gyorfy</a:t>
            </a:r>
            <a:r>
              <a:rPr lang="en-US" sz="1700">
                <a:solidFill>
                  <a:prstClr val="black"/>
                </a:solidFill>
                <a:latin typeface="Helvetica"/>
                <a:cs typeface="Helvetica"/>
              </a:rPr>
              <a:t>)</a:t>
            </a:r>
          </a:p>
          <a:p>
            <a:pPr defTabSz="4023067">
              <a:spcBef>
                <a:spcPts val="0"/>
              </a:spcBef>
              <a:spcAft>
                <a:spcPts val="0"/>
              </a:spcAft>
            </a:pPr>
            <a:endParaRPr lang="en-US" sz="1700">
              <a:solidFill>
                <a:prstClr val="black"/>
              </a:solidFill>
              <a:latin typeface="Helvetica"/>
              <a:cs typeface="Helvetica"/>
            </a:endParaRPr>
          </a:p>
        </p:txBody>
      </p:sp>
      <p:sp>
        <p:nvSpPr>
          <p:cNvPr id="2240" name="Text Box 192"/>
          <p:cNvSpPr txBox="1">
            <a:spLocks noChangeArrowheads="1"/>
          </p:cNvSpPr>
          <p:nvPr/>
        </p:nvSpPr>
        <p:spPr bwMode="auto">
          <a:xfrm>
            <a:off x="5996916" y="10680534"/>
            <a:ext cx="7077040" cy="10904408"/>
          </a:xfrm>
          <a:prstGeom prst="rect">
            <a:avLst/>
          </a:prstGeom>
          <a:solidFill>
            <a:schemeClr val="bg1"/>
          </a:solidFill>
          <a:ln>
            <a:noFill/>
          </a:ln>
          <a:effectLst/>
        </p:spPr>
        <p:txBody>
          <a:bodyPr wrap="square" lIns="182880" tIns="182880" rIns="182880" bIns="182880" anchor="t">
            <a:spAutoFit/>
          </a:bodyPr>
          <a:lstStyle/>
          <a:p>
            <a:pPr>
              <a:lnSpc>
                <a:spcPct val="110000"/>
              </a:lnSpc>
            </a:pPr>
            <a:r>
              <a:rPr lang="en-US" sz="1900">
                <a:latin typeface="Helvetica" pitchFamily="2" charset="0"/>
                <a:cs typeface="Calibri"/>
              </a:rPr>
              <a:t>Cross-sectional study conducted across 17 Ecuadorian cantons from 2020–2022. </a:t>
            </a:r>
            <a:r>
              <a:rPr lang="en-US" sz="1900">
                <a:latin typeface="Helvetica" pitchFamily="2" charset="0"/>
                <a:cs typeface="Helvetica"/>
              </a:rPr>
              <a:t>Data from CARE Ecuador provided demographic information (date of birth, nationality, sex assigned at birth, gender identity, among others), receipt of HIV intervention kits, HIV screening and confirmatory tests and results, and care access from 2020 to 2022.</a:t>
            </a:r>
            <a:endParaRPr lang="en-US">
              <a:latin typeface="Helvetica" pitchFamily="2" charset="0"/>
            </a:endParaRPr>
          </a:p>
          <a:p>
            <a:pPr>
              <a:lnSpc>
                <a:spcPct val="110000"/>
              </a:lnSpc>
            </a:pPr>
            <a:endParaRPr lang="en-US" sz="1900">
              <a:latin typeface="Helvetica" pitchFamily="2" charset="0"/>
              <a:cs typeface="Calibri"/>
            </a:endParaRPr>
          </a:p>
          <a:p>
            <a:pPr>
              <a:lnSpc>
                <a:spcPct val="110000"/>
              </a:lnSpc>
            </a:pPr>
            <a:r>
              <a:rPr lang="en-US" altLang="zh-CN" sz="1900" b="1" i="1">
                <a:latin typeface="Helvetica" pitchFamily="2" charset="0"/>
                <a:cs typeface="Calibri"/>
              </a:rPr>
              <a:t>STUDY</a:t>
            </a:r>
            <a:r>
              <a:rPr lang="zh-CN" altLang="en-US" sz="1900" b="1" i="1">
                <a:latin typeface="Helvetica" pitchFamily="2" charset="0"/>
                <a:cs typeface="Calibri"/>
              </a:rPr>
              <a:t> </a:t>
            </a:r>
            <a:r>
              <a:rPr lang="en-US" altLang="zh-CN" sz="1900" b="1" i="1">
                <a:latin typeface="Helvetica" pitchFamily="2" charset="0"/>
                <a:cs typeface="Calibri"/>
              </a:rPr>
              <a:t>POPULATION</a:t>
            </a:r>
          </a:p>
          <a:p>
            <a:pPr marL="342900" indent="-342900">
              <a:lnSpc>
                <a:spcPct val="110000"/>
              </a:lnSpc>
              <a:buFont typeface="Arial" panose="020B0604020202020204" pitchFamily="34" charset="0"/>
              <a:buChar char="•"/>
            </a:pPr>
            <a:r>
              <a:rPr lang="en-US" sz="1900">
                <a:latin typeface="Helvetica" pitchFamily="2" charset="0"/>
                <a:cs typeface="Calibri"/>
              </a:rPr>
              <a:t>46,593 participants</a:t>
            </a:r>
            <a:r>
              <a:rPr lang="en-US" altLang="zh-CN" sz="1900">
                <a:latin typeface="Helvetica" pitchFamily="2" charset="0"/>
                <a:cs typeface="Calibri"/>
              </a:rPr>
              <a:t>.</a:t>
            </a:r>
            <a:endParaRPr lang="en-US" sz="1900">
              <a:latin typeface="Helvetica" pitchFamily="2" charset="0"/>
              <a:cs typeface="Calibri"/>
            </a:endParaRPr>
          </a:p>
          <a:p>
            <a:pPr marL="342900" indent="-342900">
              <a:lnSpc>
                <a:spcPct val="110000"/>
              </a:lnSpc>
              <a:buFont typeface="Arial" panose="020B0604020202020204" pitchFamily="34" charset="0"/>
              <a:buChar char="•"/>
            </a:pPr>
            <a:r>
              <a:rPr lang="en-US" sz="1900">
                <a:latin typeface="Helvetica" pitchFamily="2" charset="0"/>
                <a:cs typeface="Calibri"/>
              </a:rPr>
              <a:t>Individuals who self-identified as one or more of the following high-risk populations (MSM, transgender females, and female sex workers)</a:t>
            </a:r>
            <a:r>
              <a:rPr lang="en-US" altLang="zh-CN" sz="1900">
                <a:latin typeface="Helvetica" pitchFamily="2" charset="0"/>
                <a:cs typeface="Calibri"/>
              </a:rPr>
              <a:t>.</a:t>
            </a:r>
          </a:p>
          <a:p>
            <a:pPr>
              <a:lnSpc>
                <a:spcPct val="110000"/>
              </a:lnSpc>
            </a:pPr>
            <a:endParaRPr lang="en-US" altLang="zh-CN" sz="1900">
              <a:latin typeface="Helvetica" pitchFamily="2" charset="0"/>
              <a:cs typeface="Calibri"/>
            </a:endParaRPr>
          </a:p>
          <a:p>
            <a:pPr>
              <a:lnSpc>
                <a:spcPct val="110000"/>
              </a:lnSpc>
            </a:pPr>
            <a:r>
              <a:rPr lang="en-US" altLang="zh-CN" sz="1900" b="1" i="1">
                <a:latin typeface="Helvetica" pitchFamily="2" charset="0"/>
                <a:cs typeface="Calibri"/>
              </a:rPr>
              <a:t>ANALYTICAL</a:t>
            </a:r>
            <a:r>
              <a:rPr lang="zh-CN" altLang="en-US" sz="1900" b="1" i="1">
                <a:latin typeface="Helvetica" pitchFamily="2" charset="0"/>
                <a:cs typeface="Calibri"/>
              </a:rPr>
              <a:t> </a:t>
            </a:r>
            <a:r>
              <a:rPr lang="en-US" altLang="zh-CN" sz="1900" b="1" i="1">
                <a:latin typeface="Helvetica" pitchFamily="2" charset="0"/>
                <a:cs typeface="Calibri"/>
              </a:rPr>
              <a:t>APPROACHES</a:t>
            </a:r>
          </a:p>
          <a:p>
            <a:pPr marL="342900" indent="-342900">
              <a:lnSpc>
                <a:spcPct val="110000"/>
              </a:lnSpc>
              <a:buFont typeface="Arial" panose="020B0604020202020204" pitchFamily="34" charset="0"/>
              <a:buChar char="•"/>
            </a:pPr>
            <a:r>
              <a:rPr lang="en-US" altLang="zh-CN" sz="1900">
                <a:latin typeface="Helvetica" pitchFamily="2" charset="0"/>
                <a:cs typeface="Calibri"/>
              </a:rPr>
              <a:t>Exposure Variables</a:t>
            </a:r>
          </a:p>
          <a:p>
            <a:pPr marL="800100" lvl="1" indent="-342900">
              <a:lnSpc>
                <a:spcPct val="110000"/>
              </a:lnSpc>
              <a:buFont typeface="Arial" panose="020B0604020202020204" pitchFamily="34" charset="0"/>
              <a:buChar char="•"/>
            </a:pPr>
            <a:r>
              <a:rPr lang="en-US" altLang="zh-CN" sz="1900">
                <a:latin typeface="Helvetica" pitchFamily="2" charset="0"/>
                <a:cs typeface="Calibri"/>
              </a:rPr>
              <a:t>Demographic factors included age, gender identity, nationality, and sexual</a:t>
            </a:r>
            <a:r>
              <a:rPr lang="zh-CN" altLang="en-US" sz="1900">
                <a:latin typeface="Helvetica" pitchFamily="2" charset="0"/>
                <a:cs typeface="Calibri"/>
              </a:rPr>
              <a:t> </a:t>
            </a:r>
            <a:r>
              <a:rPr lang="en-US" altLang="zh-CN" sz="1900">
                <a:latin typeface="Helvetica" pitchFamily="2" charset="0"/>
                <a:cs typeface="Calibri"/>
              </a:rPr>
              <a:t>orientation.</a:t>
            </a:r>
          </a:p>
          <a:p>
            <a:pPr marL="800100" lvl="1" indent="-342900">
              <a:lnSpc>
                <a:spcPct val="110000"/>
              </a:lnSpc>
              <a:buFont typeface="Arial" panose="020B0604020202020204" pitchFamily="34" charset="0"/>
              <a:buChar char="•"/>
            </a:pPr>
            <a:r>
              <a:rPr lang="en-US" altLang="zh-CN" sz="1900">
                <a:latin typeface="Helvetica" pitchFamily="2" charset="0"/>
                <a:cs typeface="Calibri"/>
              </a:rPr>
              <a:t>Receipt of each HIV intervention component (condom,</a:t>
            </a:r>
            <a:r>
              <a:rPr lang="zh-CN" altLang="en-US" sz="1900">
                <a:latin typeface="Helvetica" pitchFamily="2" charset="0"/>
                <a:cs typeface="Calibri"/>
              </a:rPr>
              <a:t> </a:t>
            </a:r>
            <a:r>
              <a:rPr lang="en-US" altLang="zh-CN" sz="1900">
                <a:latin typeface="Helvetica" pitchFamily="2" charset="0"/>
                <a:cs typeface="Calibri"/>
              </a:rPr>
              <a:t>lubricant, HIV screening)</a:t>
            </a:r>
            <a:endParaRPr lang="en-US">
              <a:latin typeface="Helvetica" pitchFamily="2" charset="0"/>
            </a:endParaRPr>
          </a:p>
          <a:p>
            <a:pPr marL="342900" indent="-342900">
              <a:lnSpc>
                <a:spcPct val="110000"/>
              </a:lnSpc>
              <a:buFont typeface="Arial" panose="020B0604020202020204" pitchFamily="34" charset="0"/>
              <a:buChar char="•"/>
            </a:pPr>
            <a:r>
              <a:rPr lang="en-US" altLang="zh-CN" sz="1900">
                <a:latin typeface="Helvetica" pitchFamily="2" charset="0"/>
                <a:cs typeface="Calibri"/>
              </a:rPr>
              <a:t>Outcome Variables</a:t>
            </a:r>
          </a:p>
          <a:p>
            <a:pPr marL="800100" lvl="1" indent="-342900">
              <a:lnSpc>
                <a:spcPct val="110000"/>
              </a:lnSpc>
              <a:buFont typeface="Arial" panose="020B0604020202020204" pitchFamily="34" charset="0"/>
              <a:buChar char="•"/>
            </a:pPr>
            <a:r>
              <a:rPr lang="en-US" altLang="zh-CN" sz="1900">
                <a:latin typeface="Helvetica" pitchFamily="2" charset="0"/>
                <a:cs typeface="Calibri"/>
              </a:rPr>
              <a:t>Access to HIV care was coded as a binary variable among individuals with a positive screening result.</a:t>
            </a:r>
          </a:p>
          <a:p>
            <a:pPr marL="342900" indent="-342900">
              <a:lnSpc>
                <a:spcPct val="110000"/>
              </a:lnSpc>
              <a:buFont typeface="Arial" panose="020B0604020202020204" pitchFamily="34" charset="0"/>
              <a:buChar char="•"/>
            </a:pPr>
            <a:r>
              <a:rPr lang="en-US" altLang="zh-CN" sz="1900">
                <a:latin typeface="Helvetica" pitchFamily="2" charset="0"/>
                <a:cs typeface="Calibri"/>
              </a:rPr>
              <a:t>Descriptive tables summarized demographic</a:t>
            </a:r>
            <a:r>
              <a:rPr lang="zh-CN" altLang="en-US" sz="1900">
                <a:latin typeface="Helvetica" pitchFamily="2" charset="0"/>
                <a:cs typeface="Calibri"/>
              </a:rPr>
              <a:t> </a:t>
            </a:r>
            <a:r>
              <a:rPr lang="en-US" altLang="zh-CN" sz="1900">
                <a:latin typeface="Helvetica" pitchFamily="2" charset="0"/>
                <a:cs typeface="Calibri"/>
              </a:rPr>
              <a:t>characteristics (Table 1).</a:t>
            </a:r>
          </a:p>
          <a:p>
            <a:pPr marL="342900" indent="-342900">
              <a:lnSpc>
                <a:spcPct val="110000"/>
              </a:lnSpc>
              <a:buFont typeface="Arial" panose="020B0604020202020204" pitchFamily="34" charset="0"/>
              <a:buChar char="•"/>
            </a:pPr>
            <a:r>
              <a:rPr lang="en-US" altLang="zh-CN" sz="1900">
                <a:latin typeface="Helvetica" pitchFamily="2" charset="0"/>
                <a:cs typeface="Calibri"/>
              </a:rPr>
              <a:t>Poisson regression models were used to estimate prevalence ratios using the incidence rate ratio (IRR).</a:t>
            </a:r>
          </a:p>
          <a:p>
            <a:pPr marL="342900" indent="-342900">
              <a:lnSpc>
                <a:spcPct val="110000"/>
              </a:lnSpc>
              <a:buFont typeface="Arial" panose="020B0604020202020204" pitchFamily="34" charset="0"/>
              <a:buChar char="•"/>
            </a:pPr>
            <a:r>
              <a:rPr lang="en-US" altLang="zh-CN" sz="1900">
                <a:latin typeface="Helvetica" pitchFamily="2" charset="0"/>
                <a:cs typeface="Calibri"/>
              </a:rPr>
              <a:t>Poisson regression models assessed associations between demographic variables and</a:t>
            </a:r>
          </a:p>
          <a:p>
            <a:pPr marL="800100" lvl="1" indent="-342900">
              <a:lnSpc>
                <a:spcPct val="110000"/>
              </a:lnSpc>
              <a:buFont typeface="Arial" panose="020B0604020202020204" pitchFamily="34" charset="0"/>
              <a:buChar char="•"/>
            </a:pPr>
            <a:r>
              <a:rPr lang="en-US" altLang="zh-CN" sz="1900">
                <a:latin typeface="Helvetica" pitchFamily="2" charset="0"/>
                <a:cs typeface="Calibri"/>
              </a:rPr>
              <a:t>Receipt of each intervention component</a:t>
            </a:r>
          </a:p>
          <a:p>
            <a:pPr marL="800100" lvl="1" indent="-342900">
              <a:lnSpc>
                <a:spcPct val="110000"/>
              </a:lnSpc>
              <a:buFont typeface="Arial" panose="020B0604020202020204" pitchFamily="34" charset="0"/>
              <a:buChar char="•"/>
            </a:pPr>
            <a:r>
              <a:rPr lang="en-US" altLang="zh-CN" sz="1900">
                <a:latin typeface="Helvetica" pitchFamily="2" charset="0"/>
                <a:cs typeface="Calibri"/>
              </a:rPr>
              <a:t>Access to HIV care among individuals who screened positive</a:t>
            </a:r>
          </a:p>
          <a:p>
            <a:pPr marL="342900" indent="-342900">
              <a:lnSpc>
                <a:spcPct val="110000"/>
              </a:lnSpc>
              <a:buFont typeface="Arial" panose="020B0604020202020204" pitchFamily="34" charset="0"/>
              <a:buChar char="•"/>
            </a:pPr>
            <a:r>
              <a:rPr lang="en-US" altLang="zh-CN" sz="1900">
                <a:latin typeface="Helvetica" pitchFamily="2" charset="0"/>
                <a:cs typeface="Calibri"/>
              </a:rPr>
              <a:t>Statistical analyses were conducted using R (RStudio), with statistical significance defined as p &lt; 0.05.</a:t>
            </a:r>
          </a:p>
        </p:txBody>
      </p:sp>
      <p:sp>
        <p:nvSpPr>
          <p:cNvPr id="2241" name="Text Box 193"/>
          <p:cNvSpPr txBox="1">
            <a:spLocks noChangeArrowheads="1"/>
          </p:cNvSpPr>
          <p:nvPr/>
        </p:nvSpPr>
        <p:spPr bwMode="auto">
          <a:xfrm>
            <a:off x="27014821" y="4594339"/>
            <a:ext cx="5529165" cy="3293209"/>
          </a:xfrm>
          <a:prstGeom prst="rect">
            <a:avLst/>
          </a:prstGeom>
          <a:solidFill>
            <a:schemeClr val="bg1"/>
          </a:solidFill>
          <a:ln>
            <a:noFill/>
          </a:ln>
          <a:effectLst/>
        </p:spPr>
        <p:txBody>
          <a:bodyPr wrap="square" lIns="182880" tIns="182880" rIns="182880" bIns="182880" anchor="t">
            <a:spAutoFit/>
          </a:bodyPr>
          <a:lstStyle/>
          <a:p>
            <a:pPr marL="342900" indent="-342900" defTabSz="4023067" fontAlgn="auto">
              <a:spcBef>
                <a:spcPts val="0"/>
              </a:spcBef>
              <a:spcAft>
                <a:spcPts val="0"/>
              </a:spcAft>
              <a:buFont typeface="Arial" panose="020B0604020202020204" pitchFamily="34" charset="0"/>
              <a:buChar char="•"/>
            </a:pPr>
            <a:r>
              <a:rPr lang="en-US" altLang="zh-CN" sz="1900">
                <a:solidFill>
                  <a:prstClr val="black"/>
                </a:solidFill>
                <a:latin typeface="Helvetica"/>
                <a:cs typeface="Helvetica"/>
              </a:rPr>
              <a:t>Low observed prevalence remains unexplained.</a:t>
            </a:r>
          </a:p>
          <a:p>
            <a:pPr marL="342900" indent="-342900" defTabSz="4023067" fontAlgn="auto">
              <a:spcBef>
                <a:spcPts val="0"/>
              </a:spcBef>
              <a:spcAft>
                <a:spcPts val="0"/>
              </a:spcAft>
              <a:buFont typeface="Arial" panose="020B0604020202020204" pitchFamily="34" charset="0"/>
              <a:buChar char="•"/>
            </a:pPr>
            <a:r>
              <a:rPr lang="en-US" altLang="zh-CN" sz="1900">
                <a:solidFill>
                  <a:prstClr val="black"/>
                </a:solidFill>
                <a:latin typeface="Helvetica"/>
                <a:cs typeface="Helvetica"/>
              </a:rPr>
              <a:t>High HIV prevalence among foreign nationals suggests added vulnerabilities.</a:t>
            </a:r>
          </a:p>
          <a:p>
            <a:pPr marL="342900" indent="-342900" defTabSz="4023067" fontAlgn="auto">
              <a:spcBef>
                <a:spcPts val="0"/>
              </a:spcBef>
              <a:spcAft>
                <a:spcPts val="0"/>
              </a:spcAft>
              <a:buFont typeface="Arial" panose="020B0604020202020204" pitchFamily="34" charset="0"/>
              <a:buChar char="•"/>
            </a:pPr>
            <a:r>
              <a:rPr lang="en-US" altLang="zh-CN" sz="1900">
                <a:solidFill>
                  <a:prstClr val="black"/>
                </a:solidFill>
                <a:latin typeface="Helvetica"/>
                <a:cs typeface="Helvetica"/>
              </a:rPr>
              <a:t>Female sex workers have the lowest screening prevalence but high reported intervention receipt and treatment access.</a:t>
            </a:r>
          </a:p>
          <a:p>
            <a:pPr marL="342900" indent="-342900" defTabSz="4023067" fontAlgn="auto">
              <a:spcBef>
                <a:spcPts val="0"/>
              </a:spcBef>
              <a:spcAft>
                <a:spcPts val="0"/>
              </a:spcAft>
              <a:buFont typeface="Arial" panose="020B0604020202020204" pitchFamily="34" charset="0"/>
              <a:buChar char="•"/>
            </a:pPr>
            <a:r>
              <a:rPr lang="en-US" altLang="zh-CN" sz="1900">
                <a:solidFill>
                  <a:prstClr val="black"/>
                </a:solidFill>
                <a:latin typeface="Helvetica"/>
                <a:cs typeface="Helvetica"/>
              </a:rPr>
              <a:t>Targeted interventions may benefit trans women, foreign nationals, and heterosexual-identifying individuals.</a:t>
            </a:r>
            <a:endParaRPr lang="en-US" sz="1900">
              <a:solidFill>
                <a:prstClr val="black"/>
              </a:solidFill>
              <a:latin typeface="Helvetica"/>
              <a:cs typeface="Helvetica"/>
            </a:endParaRPr>
          </a:p>
        </p:txBody>
      </p:sp>
      <p:sp>
        <p:nvSpPr>
          <p:cNvPr id="2242" name="Text Box 194"/>
          <p:cNvSpPr txBox="1">
            <a:spLocks noChangeArrowheads="1"/>
          </p:cNvSpPr>
          <p:nvPr/>
        </p:nvSpPr>
        <p:spPr bwMode="auto">
          <a:xfrm>
            <a:off x="5996916" y="4572000"/>
            <a:ext cx="7151017" cy="4755148"/>
          </a:xfrm>
          <a:prstGeom prst="rect">
            <a:avLst/>
          </a:prstGeom>
          <a:solidFill>
            <a:schemeClr val="bg1"/>
          </a:solidFill>
          <a:ln>
            <a:noFill/>
          </a:ln>
          <a:effectLst/>
        </p:spPr>
        <p:txBody>
          <a:bodyPr wrap="square" lIns="182880" tIns="182880" rIns="182880" bIns="182880" anchor="t">
            <a:spAutoFit/>
          </a:bodyPr>
          <a:lstStyle/>
          <a:p>
            <a:pPr marL="285750" indent="-285750">
              <a:buFont typeface="Arial" panose="020B0604020202020204" pitchFamily="34" charset="0"/>
              <a:buChar char="•"/>
            </a:pPr>
            <a:r>
              <a:rPr lang="en-US" altLang="zh-CN" sz="1900">
                <a:latin typeface="Helvetica"/>
                <a:cs typeface="Calibri"/>
              </a:rPr>
              <a:t>National</a:t>
            </a:r>
            <a:r>
              <a:rPr lang="zh-CN" altLang="en-US" sz="1900">
                <a:latin typeface="Helvetica"/>
                <a:cs typeface="Calibri"/>
              </a:rPr>
              <a:t> </a:t>
            </a:r>
            <a:r>
              <a:rPr lang="en-US" altLang="zh-CN" sz="1900">
                <a:latin typeface="Helvetica"/>
                <a:cs typeface="Calibri"/>
              </a:rPr>
              <a:t>HIV</a:t>
            </a:r>
            <a:r>
              <a:rPr lang="en-US" sz="1900">
                <a:latin typeface="Helvetica"/>
                <a:cs typeface="Calibri"/>
              </a:rPr>
              <a:t> prevalence is 0.4%, with MSM (10.2%) and transgender women (18.2%) experiencing the highest burden</a:t>
            </a:r>
            <a:r>
              <a:rPr lang="en-US" altLang="zh-CN" sz="1900" baseline="30000">
                <a:latin typeface="Helvetica"/>
                <a:cs typeface="Calibri"/>
              </a:rPr>
              <a:t>3</a:t>
            </a:r>
            <a:r>
              <a:rPr lang="en-US" altLang="zh-CN" sz="1900">
                <a:latin typeface="Helvetica"/>
                <a:cs typeface="Calibri"/>
              </a:rPr>
              <a:t>.</a:t>
            </a:r>
            <a:r>
              <a:rPr lang="en-US" sz="1900">
                <a:latin typeface="Helvetica"/>
                <a:cs typeface="Calibri"/>
              </a:rPr>
              <a:t> </a:t>
            </a:r>
            <a:endParaRPr lang="en-US">
              <a:latin typeface="Helvetica"/>
              <a:cs typeface="Calibri"/>
            </a:endParaRPr>
          </a:p>
          <a:p>
            <a:pPr marL="285750" indent="-285750">
              <a:buFont typeface="Arial" panose="020B0604020202020204" pitchFamily="34" charset="0"/>
              <a:buChar char="•"/>
            </a:pPr>
            <a:r>
              <a:rPr lang="en-US" sz="1900">
                <a:latin typeface="Helvetica"/>
                <a:cs typeface="Calibri"/>
              </a:rPr>
              <a:t>31% of new diagnoses occur at an advanced stage, delaying treatment and worsening health outcomes</a:t>
            </a:r>
            <a:r>
              <a:rPr lang="en-US" altLang="zh-CN" sz="1900" baseline="30000">
                <a:latin typeface="Helvetica"/>
                <a:cs typeface="Calibri"/>
              </a:rPr>
              <a:t>2</a:t>
            </a:r>
            <a:r>
              <a:rPr lang="en-US" sz="1900">
                <a:latin typeface="Helvetica"/>
                <a:cs typeface="Calibri"/>
              </a:rPr>
              <a:t>.</a:t>
            </a:r>
            <a:endParaRPr lang="en-US" sz="1900">
              <a:highlight>
                <a:srgbClr val="FF00FF"/>
              </a:highlight>
              <a:latin typeface="Helvetica"/>
              <a:cs typeface="Calibri"/>
            </a:endParaRPr>
          </a:p>
          <a:p>
            <a:pPr marL="285750" indent="-285750">
              <a:buFont typeface="Arial" panose="020B0604020202020204" pitchFamily="34" charset="0"/>
              <a:buChar char="•"/>
            </a:pPr>
            <a:r>
              <a:rPr lang="en-US" sz="1900">
                <a:latin typeface="Helvetica"/>
                <a:cs typeface="Calibri"/>
              </a:rPr>
              <a:t>Stigma, discrimination, and structural challenges prevent key populations from accessing timely testing and treatment, contributing to ongoing transmission</a:t>
            </a:r>
            <a:r>
              <a:rPr lang="en-US" altLang="zh-CN" sz="1900" baseline="30000">
                <a:latin typeface="Helvetica"/>
                <a:cs typeface="Calibri"/>
              </a:rPr>
              <a:t>1,2</a:t>
            </a:r>
            <a:r>
              <a:rPr lang="en-US" altLang="zh-CN" sz="1900">
                <a:latin typeface="Helvetica"/>
                <a:cs typeface="Calibri"/>
              </a:rPr>
              <a:t>.</a:t>
            </a:r>
            <a:endParaRPr lang="en-US" sz="1900">
              <a:latin typeface="Helvetica"/>
              <a:cs typeface="Calibri"/>
            </a:endParaRPr>
          </a:p>
          <a:p>
            <a:pPr marL="285750" indent="-285750">
              <a:buFont typeface="Arial" panose="020B0604020202020204" pitchFamily="34" charset="0"/>
              <a:buChar char="•"/>
            </a:pPr>
            <a:r>
              <a:rPr lang="en-US" sz="1900">
                <a:latin typeface="Helvetica"/>
                <a:cs typeface="Calibri"/>
              </a:rPr>
              <a:t>Addressing healthcare disparities and expanding prevention programs is critical to reducing new infections and improving HIV outcomes in Ecuador.</a:t>
            </a:r>
          </a:p>
          <a:p>
            <a:pPr marL="285750" indent="-285750">
              <a:buFont typeface="Arial" panose="020B0604020202020204" pitchFamily="34" charset="0"/>
              <a:buChar char="•"/>
            </a:pPr>
            <a:r>
              <a:rPr lang="en-US" altLang="zh-CN" sz="1900">
                <a:latin typeface="Helvetica"/>
                <a:cs typeface="Calibri"/>
              </a:rPr>
              <a:t>This</a:t>
            </a:r>
            <a:r>
              <a:rPr lang="zh-CN" altLang="en-US" sz="1900">
                <a:latin typeface="Helvetica"/>
                <a:cs typeface="Calibri"/>
              </a:rPr>
              <a:t> </a:t>
            </a:r>
            <a:r>
              <a:rPr lang="en-US" altLang="zh-CN" sz="1900">
                <a:latin typeface="Helvetica"/>
                <a:cs typeface="Calibri"/>
              </a:rPr>
              <a:t>analysis</a:t>
            </a:r>
            <a:r>
              <a:rPr lang="zh-CN" altLang="en-US" sz="1900">
                <a:latin typeface="Helvetica"/>
                <a:cs typeface="Calibri"/>
              </a:rPr>
              <a:t> </a:t>
            </a:r>
            <a:r>
              <a:rPr lang="en-US" altLang="zh-CN" sz="1900">
                <a:latin typeface="Helvetica"/>
                <a:cs typeface="Calibri"/>
              </a:rPr>
              <a:t>assesses</a:t>
            </a:r>
            <a:r>
              <a:rPr lang="en-US" sz="1900">
                <a:latin typeface="Helvetica"/>
                <a:cs typeface="Calibri"/>
              </a:rPr>
              <a:t> the effectiveness of the Global Fund Program at improving intervention kit delivery, screening, and care for HIV.</a:t>
            </a:r>
          </a:p>
          <a:p>
            <a:endParaRPr lang="en-US" sz="1900">
              <a:latin typeface="Helvetica"/>
              <a:cs typeface="Calibri"/>
            </a:endParaRPr>
          </a:p>
        </p:txBody>
      </p:sp>
      <p:sp>
        <p:nvSpPr>
          <p:cNvPr id="5" name="TextBox 4">
            <a:extLst>
              <a:ext uri="{FF2B5EF4-FFF2-40B4-BE49-F238E27FC236}">
                <a16:creationId xmlns:a16="http://schemas.microsoft.com/office/drawing/2014/main" id="{92AF04C4-B5C9-7337-3437-E5C500BDDBD8}"/>
              </a:ext>
            </a:extLst>
          </p:cNvPr>
          <p:cNvSpPr txBox="1"/>
          <p:nvPr/>
        </p:nvSpPr>
        <p:spPr>
          <a:xfrm>
            <a:off x="-3401568" y="4169664"/>
            <a:ext cx="184731" cy="430887"/>
          </a:xfrm>
          <a:prstGeom prst="rect">
            <a:avLst/>
          </a:prstGeom>
          <a:noFill/>
        </p:spPr>
        <p:txBody>
          <a:bodyPr wrap="none" rtlCol="0">
            <a:spAutoFit/>
          </a:bodyPr>
          <a:lstStyle/>
          <a:p>
            <a:endParaRPr lang="en-US"/>
          </a:p>
        </p:txBody>
      </p:sp>
      <p:sp>
        <p:nvSpPr>
          <p:cNvPr id="10" name="Text Box 182">
            <a:extLst>
              <a:ext uri="{FF2B5EF4-FFF2-40B4-BE49-F238E27FC236}">
                <a16:creationId xmlns:a16="http://schemas.microsoft.com/office/drawing/2014/main" id="{0D4F5671-FDF8-BC02-F286-EE4D0BBDEEF0}"/>
              </a:ext>
            </a:extLst>
          </p:cNvPr>
          <p:cNvSpPr txBox="1">
            <a:spLocks noChangeArrowheads="1"/>
          </p:cNvSpPr>
          <p:nvPr/>
        </p:nvSpPr>
        <p:spPr bwMode="auto">
          <a:xfrm>
            <a:off x="843126" y="7675722"/>
            <a:ext cx="3505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0"/>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altLang="zh-CN" sz="3200" b="1">
                <a:solidFill>
                  <a:schemeClr val="bg1"/>
                </a:solidFill>
                <a:latin typeface="Helvetica"/>
                <a:cs typeface="Helvetica"/>
              </a:rPr>
              <a:t>PROJECT</a:t>
            </a:r>
            <a:r>
              <a:rPr lang="zh-CN" altLang="en-US" sz="3200" b="1">
                <a:solidFill>
                  <a:schemeClr val="bg1"/>
                </a:solidFill>
                <a:latin typeface="Helvetica"/>
                <a:cs typeface="Helvetica"/>
              </a:rPr>
              <a:t> </a:t>
            </a:r>
            <a:r>
              <a:rPr lang="en-US" altLang="zh-CN" sz="3200" b="1">
                <a:solidFill>
                  <a:schemeClr val="bg1"/>
                </a:solidFill>
                <a:latin typeface="Helvetica"/>
                <a:cs typeface="Helvetica"/>
              </a:rPr>
              <a:t>AIM</a:t>
            </a:r>
            <a:endParaRPr lang="en-US" sz="3200" b="1">
              <a:solidFill>
                <a:schemeClr val="bg1"/>
              </a:solidFill>
              <a:latin typeface="Helvetica"/>
              <a:cs typeface="Helvetica"/>
            </a:endParaRPr>
          </a:p>
        </p:txBody>
      </p:sp>
      <p:sp>
        <p:nvSpPr>
          <p:cNvPr id="11" name="Text Box 189">
            <a:extLst>
              <a:ext uri="{FF2B5EF4-FFF2-40B4-BE49-F238E27FC236}">
                <a16:creationId xmlns:a16="http://schemas.microsoft.com/office/drawing/2014/main" id="{1AF23935-044B-1C46-4DE2-2354110101CA}"/>
              </a:ext>
            </a:extLst>
          </p:cNvPr>
          <p:cNvSpPr txBox="1">
            <a:spLocks noChangeArrowheads="1"/>
          </p:cNvSpPr>
          <p:nvPr/>
        </p:nvSpPr>
        <p:spPr bwMode="auto">
          <a:xfrm>
            <a:off x="450491" y="8579000"/>
            <a:ext cx="4572000" cy="2708434"/>
          </a:xfrm>
          <a:prstGeom prst="rect">
            <a:avLst/>
          </a:prstGeom>
          <a:solidFill>
            <a:schemeClr val="accent1">
              <a:lumMod val="75000"/>
            </a:schemeClr>
          </a:solidFill>
          <a:ln>
            <a:noFill/>
          </a:ln>
          <a:effectLst/>
        </p:spPr>
        <p:txBody>
          <a:bodyPr lIns="182880" tIns="182880" rIns="182880" bIns="182880" anchor="t">
            <a:spAutoFit/>
          </a:bodyPr>
          <a:lstStyle/>
          <a:p>
            <a:pPr lvl="0" defTabSz="4023067" fontAlgn="auto">
              <a:spcBef>
                <a:spcPts val="0"/>
              </a:spcBef>
              <a:spcAft>
                <a:spcPts val="0"/>
              </a:spcAft>
            </a:pPr>
            <a:r>
              <a:rPr lang="en-US" sz="1900">
                <a:solidFill>
                  <a:schemeClr val="bg1">
                    <a:lumMod val="95000"/>
                  </a:schemeClr>
                </a:solidFill>
                <a:latin typeface="Helvetica" pitchFamily="2" charset="0"/>
              </a:rPr>
              <a:t>This project aims to examine how demographic factors influence the receipt of HIV interventions (condom/lubricant distribution, and HIV screening) and subsequent access to care among high-risk populations across 17 cantons in Ecuador (2020–2022)</a:t>
            </a:r>
            <a:endParaRPr lang="en-US">
              <a:cs typeface="Arial" charset="0"/>
            </a:endParaRPr>
          </a:p>
        </p:txBody>
      </p:sp>
      <p:sp>
        <p:nvSpPr>
          <p:cNvPr id="13" name="Text Box 191">
            <a:extLst>
              <a:ext uri="{FF2B5EF4-FFF2-40B4-BE49-F238E27FC236}">
                <a16:creationId xmlns:a16="http://schemas.microsoft.com/office/drawing/2014/main" id="{2F83C8FA-F12D-4EC3-2BE2-B9B035151BD3}"/>
              </a:ext>
            </a:extLst>
          </p:cNvPr>
          <p:cNvSpPr txBox="1">
            <a:spLocks noChangeArrowheads="1"/>
          </p:cNvSpPr>
          <p:nvPr/>
        </p:nvSpPr>
        <p:spPr bwMode="auto">
          <a:xfrm>
            <a:off x="13614149" y="4563537"/>
            <a:ext cx="6397485" cy="17062261"/>
          </a:xfrm>
          <a:prstGeom prst="rect">
            <a:avLst/>
          </a:prstGeom>
          <a:solidFill>
            <a:schemeClr val="bg1"/>
          </a:solidFill>
          <a:ln>
            <a:noFill/>
          </a:ln>
          <a:effectLst/>
        </p:spPr>
        <p:txBody>
          <a:bodyPr wrap="square" lIns="182880" tIns="182880" rIns="182880" bIns="182880" numCol="1">
            <a:spAutoFit/>
          </a:bodyPr>
          <a:lstStyle/>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a:p>
            <a:pPr lvl="0" defTabSz="4023067" fontAlgn="auto">
              <a:spcBef>
                <a:spcPts val="0"/>
              </a:spcBef>
              <a:spcAft>
                <a:spcPts val="0"/>
              </a:spcAft>
            </a:pPr>
            <a:endParaRPr lang="en-US" sz="1900">
              <a:solidFill>
                <a:prstClr val="black"/>
              </a:solidFill>
              <a:latin typeface="Helvetica" pitchFamily="2" charset="0"/>
            </a:endParaRPr>
          </a:p>
        </p:txBody>
      </p:sp>
      <p:pic>
        <p:nvPicPr>
          <p:cNvPr id="7" name="Picture 6" descr="A table with numbers and text&#10;&#10;AI-generated content may be incorrect.">
            <a:extLst>
              <a:ext uri="{FF2B5EF4-FFF2-40B4-BE49-F238E27FC236}">
                <a16:creationId xmlns:a16="http://schemas.microsoft.com/office/drawing/2014/main" id="{9EE79C0B-978C-2B69-01DF-84FF499CAB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7510" y="4598910"/>
            <a:ext cx="6139676" cy="5922253"/>
          </a:xfrm>
          <a:prstGeom prst="rect">
            <a:avLst/>
          </a:prstGeom>
          <a:ln>
            <a:solidFill>
              <a:schemeClr val="tx1"/>
            </a:solidFill>
          </a:ln>
        </p:spPr>
      </p:pic>
      <p:pic>
        <p:nvPicPr>
          <p:cNvPr id="8" name="Picture 7" descr="A table with numbers and symbols&#10;&#10;AI-generated content may be incorrect.">
            <a:extLst>
              <a:ext uri="{FF2B5EF4-FFF2-40B4-BE49-F238E27FC236}">
                <a16:creationId xmlns:a16="http://schemas.microsoft.com/office/drawing/2014/main" id="{1136A3FB-EC1C-0BDF-E22F-51AF8FBCC3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974538" y="10599011"/>
            <a:ext cx="5781567" cy="5036297"/>
          </a:xfrm>
          <a:prstGeom prst="rect">
            <a:avLst/>
          </a:prstGeom>
          <a:ln>
            <a:solidFill>
              <a:schemeClr val="tx1"/>
            </a:solidFill>
          </a:ln>
        </p:spPr>
      </p:pic>
      <p:pic>
        <p:nvPicPr>
          <p:cNvPr id="12" name="Picture 11" descr="A screenshot of a test results&#10;&#10;AI-generated content may be incorrect.">
            <a:extLst>
              <a:ext uri="{FF2B5EF4-FFF2-40B4-BE49-F238E27FC236}">
                <a16:creationId xmlns:a16="http://schemas.microsoft.com/office/drawing/2014/main" id="{0DA5BA4D-57E4-1438-08E8-9CD7E5DE5A33}"/>
              </a:ext>
            </a:extLst>
          </p:cNvPr>
          <p:cNvPicPr>
            <a:picLocks noChangeAspect="1"/>
          </p:cNvPicPr>
          <p:nvPr/>
        </p:nvPicPr>
        <p:blipFill>
          <a:blip r:embed="rId5">
            <a:extLst>
              <a:ext uri="{28A0092B-C50C-407E-A947-70E740481C1C}">
                <a14:useLocalDpi xmlns:a14="http://schemas.microsoft.com/office/drawing/2010/main" val="0"/>
              </a:ext>
            </a:extLst>
          </a:blip>
          <a:srcRect l="-84" t="-86" r="84" b="-360"/>
          <a:stretch/>
        </p:blipFill>
        <p:spPr>
          <a:xfrm>
            <a:off x="13955480" y="15713156"/>
            <a:ext cx="5800625" cy="5922253"/>
          </a:xfrm>
          <a:prstGeom prst="rect">
            <a:avLst/>
          </a:prstGeom>
          <a:ln>
            <a:solidFill>
              <a:schemeClr val="tx1"/>
            </a:solidFill>
          </a:ln>
        </p:spPr>
      </p:pic>
      <p:sp>
        <p:nvSpPr>
          <p:cNvPr id="15" name="Text Box 191">
            <a:extLst>
              <a:ext uri="{FF2B5EF4-FFF2-40B4-BE49-F238E27FC236}">
                <a16:creationId xmlns:a16="http://schemas.microsoft.com/office/drawing/2014/main" id="{BA6F26AA-F9A0-3F8E-501B-B320A08F78BB}"/>
              </a:ext>
            </a:extLst>
          </p:cNvPr>
          <p:cNvSpPr txBox="1">
            <a:spLocks noChangeArrowheads="1"/>
          </p:cNvSpPr>
          <p:nvPr/>
        </p:nvSpPr>
        <p:spPr bwMode="auto">
          <a:xfrm>
            <a:off x="20533340" y="4563403"/>
            <a:ext cx="5985718" cy="17035433"/>
          </a:xfrm>
          <a:prstGeom prst="rect">
            <a:avLst/>
          </a:prstGeom>
          <a:solidFill>
            <a:schemeClr val="bg1"/>
          </a:solidFill>
          <a:ln>
            <a:noFill/>
          </a:ln>
          <a:effectLst/>
        </p:spPr>
        <p:txBody>
          <a:bodyPr wrap="square" lIns="182880" tIns="182880" rIns="182880" bIns="182880" numCol="1" anchor="t">
            <a:spAutoFit/>
          </a:bodyPr>
          <a:lstStyle/>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lvl="0" defTabSz="4023067" fontAlgn="auto">
              <a:spcBef>
                <a:spcPts val="0"/>
              </a:spcBef>
              <a:spcAft>
                <a:spcPts val="0"/>
              </a:spcAft>
            </a:pPr>
            <a:endParaRPr lang="en-US" sz="1900" dirty="0">
              <a:solidFill>
                <a:prstClr val="black"/>
              </a:solidFill>
              <a:latin typeface="Helvetica" pitchFamily="2" charset="0"/>
            </a:endParaRPr>
          </a:p>
          <a:p>
            <a:pPr defTabSz="4023067">
              <a:spcBef>
                <a:spcPts val="0"/>
              </a:spcBef>
              <a:spcAft>
                <a:spcPts val="0"/>
              </a:spcAft>
            </a:pPr>
            <a:endParaRPr lang="en-US" sz="1900" dirty="0">
              <a:solidFill>
                <a:prstClr val="black"/>
              </a:solidFill>
              <a:latin typeface="Helvetica"/>
              <a:cs typeface="Helvetica"/>
            </a:endParaRPr>
          </a:p>
          <a:p>
            <a:pPr marL="342900" lvl="0" indent="-342900" defTabSz="4023067" fontAlgn="auto">
              <a:spcBef>
                <a:spcPts val="0"/>
              </a:spcBef>
              <a:spcAft>
                <a:spcPts val="0"/>
              </a:spcAft>
              <a:buFont typeface="Arial" panose="020B0604020202020204" pitchFamily="34" charset="0"/>
              <a:buChar char="•"/>
            </a:pPr>
            <a:endParaRPr lang="en-US" sz="1900" dirty="0">
              <a:solidFill>
                <a:prstClr val="black"/>
              </a:solidFill>
              <a:latin typeface="Helvetica"/>
              <a:cs typeface="Helvetica"/>
            </a:endParaRPr>
          </a:p>
          <a:p>
            <a:pPr marL="342900" lvl="0" indent="-342900" defTabSz="4023067" fontAlgn="auto">
              <a:spcBef>
                <a:spcPts val="0"/>
              </a:spcBef>
              <a:spcAft>
                <a:spcPts val="0"/>
              </a:spcAft>
              <a:buFont typeface="Arial" panose="020B0604020202020204" pitchFamily="34" charset="0"/>
              <a:buChar char="•"/>
            </a:pPr>
            <a:r>
              <a:rPr lang="en-US" sz="1900" dirty="0">
                <a:solidFill>
                  <a:prstClr val="black"/>
                </a:solidFill>
                <a:latin typeface="Helvetica"/>
                <a:cs typeface="Helvetica"/>
              </a:rPr>
              <a:t>Age was not significantly associated with receipt of condoms or lubricants</a:t>
            </a:r>
            <a:r>
              <a:rPr lang="zh-CN" altLang="en-US" sz="1900" dirty="0">
                <a:solidFill>
                  <a:prstClr val="black"/>
                </a:solidFill>
                <a:latin typeface="Helvetica"/>
                <a:cs typeface="Helvetica"/>
              </a:rPr>
              <a:t> </a:t>
            </a:r>
            <a:r>
              <a:rPr lang="en-US" altLang="zh-CN" sz="1900" dirty="0">
                <a:solidFill>
                  <a:prstClr val="black"/>
                </a:solidFill>
                <a:latin typeface="Helvetica"/>
                <a:cs typeface="Helvetica"/>
              </a:rPr>
              <a:t>(IRR</a:t>
            </a:r>
            <a:r>
              <a:rPr lang="zh-CN" altLang="en-US" sz="1900" dirty="0">
                <a:solidFill>
                  <a:prstClr val="black"/>
                </a:solidFill>
                <a:latin typeface="Helvetica"/>
                <a:cs typeface="Helvetica"/>
              </a:rPr>
              <a:t> </a:t>
            </a:r>
            <a:r>
              <a:rPr lang="en-US" altLang="zh-CN" sz="1900" dirty="0">
                <a:solidFill>
                  <a:prstClr val="black"/>
                </a:solidFill>
                <a:latin typeface="Helvetica"/>
                <a:cs typeface="Helvetica"/>
              </a:rPr>
              <a:t>=</a:t>
            </a:r>
            <a:r>
              <a:rPr lang="zh-CN" altLang="en-US" sz="1900" dirty="0">
                <a:solidFill>
                  <a:prstClr val="black"/>
                </a:solidFill>
                <a:latin typeface="Helvetica"/>
                <a:cs typeface="Helvetica"/>
              </a:rPr>
              <a:t> </a:t>
            </a:r>
            <a:r>
              <a:rPr lang="en-US" altLang="zh-CN" sz="1900" dirty="0">
                <a:solidFill>
                  <a:prstClr val="black"/>
                </a:solidFill>
                <a:latin typeface="Helvetica"/>
                <a:cs typeface="Helvetica"/>
              </a:rPr>
              <a:t>1)</a:t>
            </a:r>
            <a:r>
              <a:rPr lang="en-US" sz="1900" dirty="0">
                <a:solidFill>
                  <a:prstClr val="black"/>
                </a:solidFill>
                <a:latin typeface="Helvetica"/>
                <a:cs typeface="Helvetica"/>
              </a:rPr>
              <a:t>.</a:t>
            </a:r>
            <a:endParaRPr lang="en-US" sz="1900" dirty="0">
              <a:solidFill>
                <a:prstClr val="black"/>
              </a:solidFill>
              <a:latin typeface="Helvetica" pitchFamily="2" charset="0"/>
              <a:cs typeface="Helvetica" pitchFamily="2" charset="0"/>
            </a:endParaRPr>
          </a:p>
          <a:p>
            <a:pPr marL="342900" lvl="0" indent="-342900" defTabSz="4023067" fontAlgn="auto">
              <a:spcBef>
                <a:spcPts val="0"/>
              </a:spcBef>
              <a:spcAft>
                <a:spcPts val="0"/>
              </a:spcAft>
              <a:buFont typeface="Arial" panose="020B0604020202020204" pitchFamily="34" charset="0"/>
              <a:buChar char="•"/>
            </a:pPr>
            <a:r>
              <a:rPr lang="en-US" sz="1900" dirty="0">
                <a:solidFill>
                  <a:prstClr val="black"/>
                </a:solidFill>
                <a:latin typeface="Helvetica"/>
                <a:cs typeface="Helvetica"/>
              </a:rPr>
              <a:t>Gender identity was associated with differential receipt of intervention </a:t>
            </a:r>
            <a:r>
              <a:rPr lang="en-US" altLang="zh-CN" sz="1900" dirty="0">
                <a:solidFill>
                  <a:prstClr val="black"/>
                </a:solidFill>
                <a:latin typeface="Helvetica"/>
                <a:cs typeface="Helvetica"/>
              </a:rPr>
              <a:t>kit</a:t>
            </a:r>
            <a:r>
              <a:rPr lang="zh-CN" altLang="en-US" sz="1900" dirty="0">
                <a:solidFill>
                  <a:prstClr val="black"/>
                </a:solidFill>
                <a:latin typeface="Helvetica"/>
                <a:cs typeface="Helvetica"/>
              </a:rPr>
              <a:t> </a:t>
            </a:r>
            <a:r>
              <a:rPr lang="en-US" sz="1900" dirty="0">
                <a:solidFill>
                  <a:prstClr val="black"/>
                </a:solidFill>
                <a:latin typeface="Helvetica"/>
                <a:cs typeface="Helvetica"/>
              </a:rPr>
              <a:t>components</a:t>
            </a:r>
            <a:r>
              <a:rPr lang="en-US" altLang="zh-CN" sz="1900" dirty="0">
                <a:solidFill>
                  <a:prstClr val="black"/>
                </a:solidFill>
                <a:latin typeface="Helvetica"/>
                <a:cs typeface="Helvetica"/>
              </a:rPr>
              <a:t>.</a:t>
            </a:r>
            <a:endParaRPr lang="en-US" sz="1900" dirty="0">
              <a:solidFill>
                <a:prstClr val="black"/>
              </a:solidFill>
              <a:latin typeface="Helvetica"/>
              <a:cs typeface="Helvetica"/>
            </a:endParaRPr>
          </a:p>
          <a:p>
            <a:pPr marL="800100" lvl="1" indent="-342900" defTabSz="4023067" fontAlgn="auto">
              <a:spcBef>
                <a:spcPts val="0"/>
              </a:spcBef>
              <a:spcAft>
                <a:spcPts val="0"/>
              </a:spcAft>
              <a:buFont typeface="Arial" panose="020B0604020202020204" pitchFamily="34" charset="0"/>
              <a:buChar char="•"/>
            </a:pPr>
            <a:r>
              <a:rPr lang="en-US" altLang="zh-CN" sz="1900" dirty="0">
                <a:solidFill>
                  <a:prstClr val="black"/>
                </a:solidFill>
                <a:latin typeface="Helvetica"/>
                <a:cs typeface="Helvetica"/>
              </a:rPr>
              <a:t>Females were less likely than males to receive condoms (IRR = 0.93) but more likely to receive lubricants (IRR = 1.81).</a:t>
            </a:r>
          </a:p>
          <a:p>
            <a:pPr marL="800100" lvl="1" indent="-342900" defTabSz="4023067" fontAlgn="auto">
              <a:spcBef>
                <a:spcPts val="0"/>
              </a:spcBef>
              <a:spcAft>
                <a:spcPts val="0"/>
              </a:spcAft>
              <a:buFont typeface="Arial" panose="020B0604020202020204" pitchFamily="34" charset="0"/>
              <a:buChar char="•"/>
            </a:pPr>
            <a:r>
              <a:rPr lang="en-US" sz="1900" dirty="0">
                <a:solidFill>
                  <a:prstClr val="black"/>
                </a:solidFill>
                <a:latin typeface="Helvetica"/>
                <a:cs typeface="Helvetica"/>
              </a:rPr>
              <a:t>Transgender females showed no significant difference in condom receipt (IRR = 1.00) but were more likely to receive lubricants (IRR = 1.14).</a:t>
            </a:r>
          </a:p>
          <a:p>
            <a:pPr marL="342900" indent="-342900" defTabSz="4023067" fontAlgn="auto">
              <a:spcBef>
                <a:spcPts val="0"/>
              </a:spcBef>
              <a:spcAft>
                <a:spcPts val="0"/>
              </a:spcAft>
              <a:buFont typeface="Arial" panose="020B0604020202020204" pitchFamily="34" charset="0"/>
              <a:buChar char="•"/>
            </a:pPr>
            <a:r>
              <a:rPr lang="en-US" sz="1900" dirty="0">
                <a:solidFill>
                  <a:prstClr val="black"/>
                </a:solidFill>
                <a:latin typeface="Helvetica"/>
                <a:cs typeface="Helvetica"/>
              </a:rPr>
              <a:t>Nationality and sexual orientation had little to no </a:t>
            </a:r>
            <a:r>
              <a:rPr lang="en-US" altLang="zh-CN" sz="1900" dirty="0">
                <a:solidFill>
                  <a:prstClr val="black"/>
                </a:solidFill>
                <a:latin typeface="Helvetica"/>
                <a:cs typeface="Helvetica"/>
              </a:rPr>
              <a:t>impact</a:t>
            </a:r>
            <a:r>
              <a:rPr lang="en-US" sz="1900" dirty="0">
                <a:solidFill>
                  <a:prstClr val="black"/>
                </a:solidFill>
                <a:latin typeface="Helvetica"/>
                <a:cs typeface="Helvetica"/>
              </a:rPr>
              <a:t> on condom receipt</a:t>
            </a:r>
            <a:r>
              <a:rPr lang="zh-CN" altLang="en-US" sz="1900" dirty="0">
                <a:solidFill>
                  <a:prstClr val="black"/>
                </a:solidFill>
                <a:latin typeface="Helvetica"/>
                <a:cs typeface="Helvetica"/>
              </a:rPr>
              <a:t> </a:t>
            </a:r>
            <a:r>
              <a:rPr lang="en-US" sz="1900" dirty="0">
                <a:solidFill>
                  <a:prstClr val="black"/>
                </a:solidFill>
                <a:latin typeface="Helvetica"/>
                <a:cs typeface="Helvetica"/>
              </a:rPr>
              <a:t>but were associated with </a:t>
            </a:r>
            <a:r>
              <a:rPr lang="en-US" altLang="zh-CN" sz="1900" dirty="0">
                <a:solidFill>
                  <a:prstClr val="black"/>
                </a:solidFill>
                <a:latin typeface="Helvetica"/>
                <a:cs typeface="Helvetica"/>
              </a:rPr>
              <a:t>differences</a:t>
            </a:r>
            <a:r>
              <a:rPr lang="zh-CN" altLang="en-US" sz="1900" dirty="0">
                <a:solidFill>
                  <a:prstClr val="black"/>
                </a:solidFill>
                <a:latin typeface="Helvetica"/>
                <a:cs typeface="Helvetica"/>
              </a:rPr>
              <a:t> </a:t>
            </a:r>
            <a:r>
              <a:rPr lang="en-US" altLang="zh-CN" sz="1900" dirty="0">
                <a:solidFill>
                  <a:prstClr val="black"/>
                </a:solidFill>
                <a:latin typeface="Helvetica"/>
                <a:cs typeface="Helvetica"/>
              </a:rPr>
              <a:t>in</a:t>
            </a:r>
            <a:r>
              <a:rPr lang="zh-CN" altLang="en-US" sz="1900" dirty="0">
                <a:solidFill>
                  <a:prstClr val="black"/>
                </a:solidFill>
                <a:latin typeface="Helvetica"/>
                <a:cs typeface="Helvetica"/>
              </a:rPr>
              <a:t> </a:t>
            </a:r>
            <a:r>
              <a:rPr lang="en-US" sz="1900" dirty="0">
                <a:solidFill>
                  <a:prstClr val="black"/>
                </a:solidFill>
                <a:latin typeface="Helvetica"/>
                <a:cs typeface="Helvetica"/>
              </a:rPr>
              <a:t>lubricant receipt.</a:t>
            </a:r>
          </a:p>
          <a:p>
            <a:pPr marL="342900" indent="-342900" defTabSz="4023067">
              <a:spcBef>
                <a:spcPts val="0"/>
              </a:spcBef>
              <a:spcAft>
                <a:spcPts val="0"/>
              </a:spcAft>
              <a:buFont typeface="Arial" panose="020B0604020202020204" pitchFamily="34" charset="0"/>
              <a:buChar char="•"/>
            </a:pPr>
            <a:endParaRPr lang="en-US" sz="1900" dirty="0">
              <a:solidFill>
                <a:prstClr val="black"/>
              </a:solidFill>
              <a:latin typeface="Helvetica"/>
              <a:cs typeface="Helvetica"/>
            </a:endParaRPr>
          </a:p>
          <a:p>
            <a:pPr marL="342900" indent="-342900" defTabSz="4023067">
              <a:spcBef>
                <a:spcPts val="0"/>
              </a:spcBef>
              <a:spcAft>
                <a:spcPts val="0"/>
              </a:spcAft>
              <a:buFont typeface="Arial" panose="020B0604020202020204" pitchFamily="34" charset="0"/>
              <a:buChar char="•"/>
            </a:pPr>
            <a:endParaRPr lang="en-US" sz="1900" dirty="0">
              <a:solidFill>
                <a:prstClr val="black"/>
              </a:solidFill>
              <a:latin typeface="Helvetica"/>
              <a:cs typeface="Helvetica"/>
            </a:endParaRPr>
          </a:p>
          <a:p>
            <a:pPr marL="342900" indent="-342900" defTabSz="4023067">
              <a:spcBef>
                <a:spcPts val="0"/>
              </a:spcBef>
              <a:spcAft>
                <a:spcPts val="0"/>
              </a:spcAft>
              <a:buFont typeface="Arial" panose="020B0604020202020204" pitchFamily="34" charset="0"/>
              <a:buChar char="•"/>
            </a:pPr>
            <a:endParaRPr lang="en-US" sz="1900" dirty="0">
              <a:solidFill>
                <a:prstClr val="black"/>
              </a:solidFill>
              <a:latin typeface="Helvetica"/>
              <a:cs typeface="Helvetica"/>
            </a:endParaRPr>
          </a:p>
          <a:p>
            <a:pPr marL="342900" indent="-342900" defTabSz="4023067">
              <a:spcBef>
                <a:spcPts val="0"/>
              </a:spcBef>
              <a:spcAft>
                <a:spcPts val="0"/>
              </a:spcAft>
              <a:buFont typeface="Arial" panose="020B0604020202020204" pitchFamily="34" charset="0"/>
              <a:buChar char="•"/>
            </a:pPr>
            <a:endParaRPr lang="en-US" sz="1900" dirty="0">
              <a:solidFill>
                <a:prstClr val="black"/>
              </a:solidFill>
              <a:latin typeface="Helvetica"/>
              <a:cs typeface="Helvetica"/>
            </a:endParaRPr>
          </a:p>
          <a:p>
            <a:pPr marL="342900" indent="-342900" defTabSz="4023067">
              <a:spcBef>
                <a:spcPts val="0"/>
              </a:spcBef>
              <a:spcAft>
                <a:spcPts val="0"/>
              </a:spcAft>
              <a:buFont typeface="Arial" panose="020B0604020202020204" pitchFamily="34" charset="0"/>
              <a:buChar char="•"/>
            </a:pPr>
            <a:endParaRPr lang="en-US" sz="1900" dirty="0">
              <a:solidFill>
                <a:prstClr val="black"/>
              </a:solidFill>
              <a:latin typeface="Helvetica"/>
              <a:cs typeface="Helvetica"/>
            </a:endParaRPr>
          </a:p>
          <a:p>
            <a:pPr marL="342900" indent="-342900" defTabSz="4023067">
              <a:spcBef>
                <a:spcPts val="0"/>
              </a:spcBef>
              <a:spcAft>
                <a:spcPts val="0"/>
              </a:spcAft>
              <a:buFont typeface="Arial" panose="020B0604020202020204" pitchFamily="34" charset="0"/>
              <a:buChar char="•"/>
            </a:pPr>
            <a:endParaRPr lang="en-US" sz="1900" dirty="0">
              <a:solidFill>
                <a:prstClr val="black"/>
              </a:solidFill>
              <a:latin typeface="Helvetica"/>
              <a:cs typeface="Helvetica"/>
            </a:endParaRPr>
          </a:p>
          <a:p>
            <a:pPr marL="342900" indent="-342900" defTabSz="4023067">
              <a:spcBef>
                <a:spcPts val="0"/>
              </a:spcBef>
              <a:spcAft>
                <a:spcPts val="0"/>
              </a:spcAft>
              <a:buFont typeface="Arial" panose="020B0604020202020204" pitchFamily="34" charset="0"/>
              <a:buChar char="•"/>
            </a:pPr>
            <a:endParaRPr lang="en-US" sz="1900" dirty="0">
              <a:solidFill>
                <a:prstClr val="black"/>
              </a:solidFill>
              <a:latin typeface="Helvetica"/>
              <a:cs typeface="Helvetica"/>
            </a:endParaRPr>
          </a:p>
          <a:p>
            <a:pPr marL="342900" indent="-342900" defTabSz="4023067">
              <a:spcBef>
                <a:spcPts val="0"/>
              </a:spcBef>
              <a:spcAft>
                <a:spcPts val="0"/>
              </a:spcAft>
              <a:buFont typeface="Arial" panose="020B0604020202020204" pitchFamily="34" charset="0"/>
              <a:buChar char="•"/>
            </a:pPr>
            <a:endParaRPr lang="en-US" sz="1900" dirty="0">
              <a:solidFill>
                <a:prstClr val="black"/>
              </a:solidFill>
              <a:latin typeface="Helvetica"/>
              <a:cs typeface="Helvetica"/>
            </a:endParaRPr>
          </a:p>
          <a:p>
            <a:pPr marL="342900" indent="-342900" defTabSz="4023067">
              <a:spcBef>
                <a:spcPts val="0"/>
              </a:spcBef>
              <a:spcAft>
                <a:spcPts val="0"/>
              </a:spcAft>
              <a:buFont typeface="Arial" panose="020B0604020202020204" pitchFamily="34" charset="0"/>
              <a:buChar char="•"/>
            </a:pPr>
            <a:endParaRPr lang="en-US" sz="1900" dirty="0">
              <a:solidFill>
                <a:prstClr val="black"/>
              </a:solidFill>
              <a:latin typeface="Helvetica"/>
              <a:cs typeface="Helvetica"/>
            </a:endParaRPr>
          </a:p>
          <a:p>
            <a:pPr marL="342900" indent="-342900" defTabSz="4023067">
              <a:spcBef>
                <a:spcPts val="0"/>
              </a:spcBef>
              <a:spcAft>
                <a:spcPts val="0"/>
              </a:spcAft>
              <a:buFont typeface="Arial" panose="020B0604020202020204" pitchFamily="34" charset="0"/>
              <a:buChar char="•"/>
            </a:pPr>
            <a:endParaRPr lang="en-US" sz="1900" dirty="0">
              <a:solidFill>
                <a:prstClr val="black"/>
              </a:solidFill>
              <a:latin typeface="Helvetica"/>
              <a:cs typeface="Helvetica"/>
            </a:endParaRPr>
          </a:p>
          <a:p>
            <a:pPr marL="342900" indent="-342900" defTabSz="4023067">
              <a:spcBef>
                <a:spcPts val="0"/>
              </a:spcBef>
              <a:spcAft>
                <a:spcPts val="0"/>
              </a:spcAft>
              <a:buFont typeface="Arial" panose="020B0604020202020204" pitchFamily="34" charset="0"/>
              <a:buChar char="•"/>
            </a:pPr>
            <a:endParaRPr lang="en-US" sz="1900" dirty="0">
              <a:solidFill>
                <a:prstClr val="black"/>
              </a:solidFill>
              <a:latin typeface="Helvetica"/>
              <a:cs typeface="Helvetica"/>
            </a:endParaRPr>
          </a:p>
          <a:p>
            <a:pPr marL="342900" indent="-342900" defTabSz="4023067" fontAlgn="auto">
              <a:spcBef>
                <a:spcPts val="0"/>
              </a:spcBef>
              <a:spcAft>
                <a:spcPts val="0"/>
              </a:spcAft>
              <a:buFont typeface="Arial" panose="020B0604020202020204" pitchFamily="34" charset="0"/>
              <a:buChar char="•"/>
            </a:pPr>
            <a:endParaRPr lang="en-US" altLang="zh-CN" sz="1900" dirty="0">
              <a:solidFill>
                <a:prstClr val="black"/>
              </a:solidFill>
              <a:latin typeface="Helvetica"/>
              <a:cs typeface="Helvetica"/>
            </a:endParaRPr>
          </a:p>
          <a:p>
            <a:pPr marL="342900" indent="-342900" defTabSz="4023067" fontAlgn="auto">
              <a:spcBef>
                <a:spcPts val="0"/>
              </a:spcBef>
              <a:spcAft>
                <a:spcPts val="0"/>
              </a:spcAft>
              <a:buFont typeface="Arial" panose="020B0604020202020204" pitchFamily="34" charset="0"/>
              <a:buChar char="•"/>
            </a:pPr>
            <a:r>
              <a:rPr lang="en-US" altLang="zh-CN" sz="1900" dirty="0">
                <a:solidFill>
                  <a:prstClr val="black"/>
                </a:solidFill>
                <a:latin typeface="Helvetica"/>
                <a:cs typeface="Helvetica"/>
              </a:rPr>
              <a:t>Age and gender identity were not significantly associated with access to HIV care among individuals who screened positive.</a:t>
            </a:r>
          </a:p>
          <a:p>
            <a:pPr marL="342900" indent="-342900" defTabSz="4023067" fontAlgn="auto">
              <a:spcBef>
                <a:spcPts val="0"/>
              </a:spcBef>
              <a:spcAft>
                <a:spcPts val="0"/>
              </a:spcAft>
              <a:buFont typeface="Arial" panose="020B0604020202020204" pitchFamily="34" charset="0"/>
              <a:buChar char="•"/>
            </a:pPr>
            <a:r>
              <a:rPr lang="en-US" sz="1900" dirty="0">
                <a:solidFill>
                  <a:prstClr val="black"/>
                </a:solidFill>
                <a:latin typeface="Helvetica"/>
                <a:cs typeface="Helvetica"/>
              </a:rPr>
              <a:t>Nationality slightly influenced care access, with foreign-born individuals being marginally more likely to access care than Ecuadorians (IRR = 1.07).</a:t>
            </a:r>
          </a:p>
          <a:p>
            <a:pPr marL="342900" indent="-342900" defTabSz="4023067" fontAlgn="auto">
              <a:spcBef>
                <a:spcPts val="0"/>
              </a:spcBef>
              <a:spcAft>
                <a:spcPts val="0"/>
              </a:spcAft>
              <a:buFont typeface="Arial" panose="020B0604020202020204" pitchFamily="34" charset="0"/>
              <a:buChar char="•"/>
            </a:pPr>
            <a:r>
              <a:rPr lang="en-US" sz="1900" dirty="0">
                <a:solidFill>
                  <a:prstClr val="black"/>
                </a:solidFill>
                <a:latin typeface="Helvetica"/>
                <a:cs typeface="Helvetica"/>
              </a:rPr>
              <a:t>Sexual orientation was the strongest </a:t>
            </a:r>
            <a:r>
              <a:rPr lang="en-US" altLang="zh-CN" sz="1900" dirty="0">
                <a:solidFill>
                  <a:prstClr val="black"/>
                </a:solidFill>
                <a:latin typeface="Helvetica"/>
                <a:cs typeface="Helvetica"/>
              </a:rPr>
              <a:t>risk</a:t>
            </a:r>
            <a:r>
              <a:rPr lang="zh-CN" altLang="en-US" sz="1900" dirty="0">
                <a:solidFill>
                  <a:prstClr val="black"/>
                </a:solidFill>
                <a:latin typeface="Helvetica"/>
                <a:cs typeface="Helvetica"/>
              </a:rPr>
              <a:t> </a:t>
            </a:r>
            <a:r>
              <a:rPr lang="en-US" altLang="zh-CN" sz="1900" dirty="0">
                <a:solidFill>
                  <a:prstClr val="black"/>
                </a:solidFill>
                <a:latin typeface="Helvetica"/>
                <a:cs typeface="Helvetica"/>
              </a:rPr>
              <a:t>factor</a:t>
            </a:r>
            <a:r>
              <a:rPr lang="en-US" sz="1900" dirty="0">
                <a:solidFill>
                  <a:prstClr val="black"/>
                </a:solidFill>
                <a:latin typeface="Helvetica"/>
                <a:cs typeface="Helvetica"/>
              </a:rPr>
              <a:t> for access to HIV care</a:t>
            </a:r>
            <a:r>
              <a:rPr lang="en-US" altLang="zh-CN" sz="1900" dirty="0">
                <a:solidFill>
                  <a:prstClr val="black"/>
                </a:solidFill>
                <a:latin typeface="Helvetica"/>
                <a:cs typeface="Helvetica"/>
              </a:rPr>
              <a:t>.</a:t>
            </a:r>
          </a:p>
          <a:p>
            <a:pPr marL="800100" lvl="1" indent="-342900" defTabSz="4023067" fontAlgn="auto">
              <a:spcBef>
                <a:spcPts val="0"/>
              </a:spcBef>
              <a:spcAft>
                <a:spcPts val="0"/>
              </a:spcAft>
              <a:buFont typeface="Arial" panose="020B0604020202020204" pitchFamily="34" charset="0"/>
              <a:buChar char="•"/>
            </a:pPr>
            <a:r>
              <a:rPr lang="en-US" sz="1900" dirty="0">
                <a:solidFill>
                  <a:prstClr val="black"/>
                </a:solidFill>
                <a:latin typeface="Helvetica"/>
                <a:cs typeface="Helvetica"/>
              </a:rPr>
              <a:t>Individuals identifying as straight or "other" were less likely to access care (IRR = 0.89), possibly due to stigma or social barriers.</a:t>
            </a:r>
          </a:p>
        </p:txBody>
      </p:sp>
      <p:pic>
        <p:nvPicPr>
          <p:cNvPr id="18" name="Picture 17" descr="A table of a test&#10;&#10;AI-generated content may be incorrect.">
            <a:extLst>
              <a:ext uri="{FF2B5EF4-FFF2-40B4-BE49-F238E27FC236}">
                <a16:creationId xmlns:a16="http://schemas.microsoft.com/office/drawing/2014/main" id="{B1394EDE-58C9-21AB-AEA8-D70E0236FB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541812" y="4556211"/>
            <a:ext cx="5958898" cy="1910142"/>
          </a:xfrm>
          <a:prstGeom prst="rect">
            <a:avLst/>
          </a:prstGeom>
          <a:ln>
            <a:solidFill>
              <a:schemeClr val="tx1"/>
            </a:solidFill>
          </a:ln>
        </p:spPr>
      </p:pic>
      <p:sp>
        <p:nvSpPr>
          <p:cNvPr id="20" name="Text Box 135">
            <a:extLst>
              <a:ext uri="{FF2B5EF4-FFF2-40B4-BE49-F238E27FC236}">
                <a16:creationId xmlns:a16="http://schemas.microsoft.com/office/drawing/2014/main" id="{359F728C-F28A-E70F-C63A-FD5EABC0BF0A}"/>
              </a:ext>
            </a:extLst>
          </p:cNvPr>
          <p:cNvSpPr txBox="1">
            <a:spLocks noChangeArrowheads="1"/>
          </p:cNvSpPr>
          <p:nvPr/>
        </p:nvSpPr>
        <p:spPr bwMode="auto">
          <a:xfrm>
            <a:off x="19970488" y="3674111"/>
            <a:ext cx="7226644"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sz="3200" b="1">
                <a:latin typeface="Helvetica"/>
                <a:cs typeface="Helvetica"/>
              </a:rPr>
              <a:t>RESULTS</a:t>
            </a:r>
            <a:r>
              <a:rPr lang="zh-CN" altLang="en-US" sz="3200" b="1">
                <a:latin typeface="Helvetica"/>
                <a:cs typeface="Helvetica"/>
              </a:rPr>
              <a:t> </a:t>
            </a:r>
            <a:r>
              <a:rPr lang="en-US" altLang="zh-CN" sz="3200" b="1">
                <a:latin typeface="Helvetica"/>
                <a:cs typeface="Helvetica"/>
              </a:rPr>
              <a:t>(</a:t>
            </a:r>
            <a:r>
              <a:rPr lang="en-US" sz="3200" b="1">
                <a:latin typeface="Helvetica"/>
                <a:cs typeface="Helvetica"/>
              </a:rPr>
              <a:t>CONT’D)</a:t>
            </a:r>
            <a:endParaRPr lang="en-US">
              <a:latin typeface="Helvetica"/>
              <a:cs typeface="Helvetica"/>
            </a:endParaRPr>
          </a:p>
        </p:txBody>
      </p:sp>
      <p:sp>
        <p:nvSpPr>
          <p:cNvPr id="27" name="Text Box 134">
            <a:extLst>
              <a:ext uri="{FF2B5EF4-FFF2-40B4-BE49-F238E27FC236}">
                <a16:creationId xmlns:a16="http://schemas.microsoft.com/office/drawing/2014/main" id="{7F2C3E8F-F742-D7D0-E1BA-2E781D40AF96}"/>
              </a:ext>
            </a:extLst>
          </p:cNvPr>
          <p:cNvSpPr txBox="1">
            <a:spLocks noChangeArrowheads="1"/>
          </p:cNvSpPr>
          <p:nvPr/>
        </p:nvSpPr>
        <p:spPr bwMode="auto">
          <a:xfrm>
            <a:off x="27644216" y="3679939"/>
            <a:ext cx="427013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altLang="zh-CN" sz="3200" b="1">
                <a:latin typeface="Helvetica" pitchFamily="2" charset="0"/>
              </a:rPr>
              <a:t>DISCUSSIONS</a:t>
            </a:r>
            <a:endParaRPr lang="en-US" sz="3200" b="1">
              <a:latin typeface="Helvetica" pitchFamily="2" charset="0"/>
              <a:cs typeface="Helvetica" pitchFamily="2" charset="0"/>
            </a:endParaRPr>
          </a:p>
        </p:txBody>
      </p:sp>
      <p:sp>
        <p:nvSpPr>
          <p:cNvPr id="9" name="Rectangle 8">
            <a:extLst>
              <a:ext uri="{FF2B5EF4-FFF2-40B4-BE49-F238E27FC236}">
                <a16:creationId xmlns:a16="http://schemas.microsoft.com/office/drawing/2014/main" id="{4074BE80-FCBA-8FD7-ABE5-BBD4DBF63F3D}"/>
              </a:ext>
            </a:extLst>
          </p:cNvPr>
          <p:cNvSpPr/>
          <p:nvPr/>
        </p:nvSpPr>
        <p:spPr bwMode="auto">
          <a:xfrm>
            <a:off x="0" y="0"/>
            <a:ext cx="32918400" cy="3726732"/>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Arial" charset="0"/>
            </a:endParaRPr>
          </a:p>
        </p:txBody>
      </p:sp>
      <p:sp>
        <p:nvSpPr>
          <p:cNvPr id="2170" name="Text Box 122"/>
          <p:cNvSpPr txBox="1">
            <a:spLocks noChangeArrowheads="1"/>
          </p:cNvSpPr>
          <p:nvPr/>
        </p:nvSpPr>
        <p:spPr bwMode="auto">
          <a:xfrm>
            <a:off x="5429099" y="42780"/>
            <a:ext cx="27422475"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82880" rIns="182880" bIns="182880">
            <a:spAutoFit/>
          </a:bodyPr>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sz="5700" b="1">
                <a:solidFill>
                  <a:schemeClr val="bg1"/>
                </a:solidFill>
                <a:latin typeface="Helvetica" pitchFamily="2" charset="0"/>
                <a:cs typeface="Calibri" panose="020F0502020204030204" pitchFamily="34" charset="0"/>
              </a:rPr>
              <a:t>HIV Intervention Receipt and Care Access Among MSM, Female Sex Workers, and Transgender Women in Ecuador, 2020–2022</a:t>
            </a:r>
          </a:p>
        </p:txBody>
      </p:sp>
      <p:sp>
        <p:nvSpPr>
          <p:cNvPr id="2171" name="Text Box 123"/>
          <p:cNvSpPr txBox="1">
            <a:spLocks noChangeArrowheads="1"/>
          </p:cNvSpPr>
          <p:nvPr/>
        </p:nvSpPr>
        <p:spPr bwMode="auto">
          <a:xfrm>
            <a:off x="5362274" y="2126999"/>
            <a:ext cx="27422475" cy="152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0" tIns="457200" rIns="457200" bIns="4572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altLang="zh-CN" sz="3100">
                <a:solidFill>
                  <a:schemeClr val="bg1"/>
                </a:solidFill>
                <a:latin typeface="Helvetica" pitchFamily="2" charset="0"/>
              </a:rPr>
              <a:t>Yuyan</a:t>
            </a:r>
            <a:r>
              <a:rPr lang="zh-CN" altLang="en-US" sz="3100">
                <a:solidFill>
                  <a:schemeClr val="bg1"/>
                </a:solidFill>
                <a:latin typeface="Helvetica" pitchFamily="2" charset="0"/>
              </a:rPr>
              <a:t> </a:t>
            </a:r>
            <a:r>
              <a:rPr lang="en-US" altLang="zh-CN" sz="3100">
                <a:solidFill>
                  <a:schemeClr val="bg1"/>
                </a:solidFill>
                <a:latin typeface="Helvetica" pitchFamily="2" charset="0"/>
              </a:rPr>
              <a:t>Chen,</a:t>
            </a:r>
            <a:r>
              <a:rPr lang="en-US" sz="3100">
                <a:solidFill>
                  <a:schemeClr val="bg1"/>
                </a:solidFill>
                <a:latin typeface="Helvetica" pitchFamily="2" charset="0"/>
              </a:rPr>
              <a:t> </a:t>
            </a:r>
            <a:r>
              <a:rPr lang="en-US" altLang="zh-CN" sz="3100">
                <a:solidFill>
                  <a:schemeClr val="bg1"/>
                </a:solidFill>
                <a:latin typeface="Helvetica" pitchFamily="2" charset="0"/>
              </a:rPr>
              <a:t>Aidan</a:t>
            </a:r>
            <a:r>
              <a:rPr lang="zh-CN" altLang="en-US" sz="3100">
                <a:solidFill>
                  <a:schemeClr val="bg1"/>
                </a:solidFill>
                <a:latin typeface="Helvetica" pitchFamily="2" charset="0"/>
              </a:rPr>
              <a:t> </a:t>
            </a:r>
            <a:r>
              <a:rPr lang="en-US" altLang="zh-CN" sz="3100">
                <a:solidFill>
                  <a:schemeClr val="bg1"/>
                </a:solidFill>
                <a:latin typeface="Helvetica" pitchFamily="2" charset="0"/>
              </a:rPr>
              <a:t>Estes</a:t>
            </a:r>
            <a:r>
              <a:rPr lang="en-US" sz="3100">
                <a:solidFill>
                  <a:schemeClr val="bg1"/>
                </a:solidFill>
                <a:latin typeface="Helvetica" pitchFamily="2" charset="0"/>
              </a:rPr>
              <a:t>, </a:t>
            </a:r>
            <a:r>
              <a:rPr lang="en-US" altLang="zh-CN" sz="3100">
                <a:solidFill>
                  <a:schemeClr val="bg1"/>
                </a:solidFill>
                <a:latin typeface="Helvetica" pitchFamily="2" charset="0"/>
              </a:rPr>
              <a:t>Daniel</a:t>
            </a:r>
            <a:r>
              <a:rPr lang="zh-CN" altLang="en-US" sz="3100">
                <a:solidFill>
                  <a:schemeClr val="bg1"/>
                </a:solidFill>
                <a:latin typeface="Helvetica" pitchFamily="2" charset="0"/>
              </a:rPr>
              <a:t> </a:t>
            </a:r>
            <a:r>
              <a:rPr lang="en-US" altLang="zh-CN" sz="3100">
                <a:solidFill>
                  <a:schemeClr val="bg1"/>
                </a:solidFill>
                <a:latin typeface="Helvetica" pitchFamily="2" charset="0"/>
              </a:rPr>
              <a:t>Herrera</a:t>
            </a:r>
            <a:endParaRPr lang="en-US" sz="3100" baseline="30000">
              <a:solidFill>
                <a:schemeClr val="bg1"/>
              </a:solidFill>
              <a:latin typeface="Helvetica" pitchFamily="2" charset="0"/>
            </a:endParaRPr>
          </a:p>
          <a:p>
            <a:pPr algn="ctr"/>
            <a:r>
              <a:rPr lang="en-US" sz="3100">
                <a:solidFill>
                  <a:schemeClr val="bg1"/>
                </a:solidFill>
                <a:latin typeface="Helvetica" pitchFamily="2" charset="0"/>
              </a:rPr>
              <a:t>Department of Epidemiology, Emory University, Atlanta, GA</a:t>
            </a:r>
          </a:p>
        </p:txBody>
      </p:sp>
      <p:pic>
        <p:nvPicPr>
          <p:cNvPr id="19" name="Picture 18" descr="A logo with orange text&#10;&#10;AI-generated content may be incorrect.">
            <a:extLst>
              <a:ext uri="{FF2B5EF4-FFF2-40B4-BE49-F238E27FC236}">
                <a16:creationId xmlns:a16="http://schemas.microsoft.com/office/drawing/2014/main" id="{649AC205-EF5D-4BB4-299C-09E0BDD49C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54312" y="372082"/>
            <a:ext cx="2541023" cy="2933836"/>
          </a:xfrm>
          <a:prstGeom prst="rect">
            <a:avLst/>
          </a:prstGeom>
        </p:spPr>
      </p:pic>
      <p:pic>
        <p:nvPicPr>
          <p:cNvPr id="4" name="Picture 3" descr="A black and white logo&#10;&#10;AI-generated content may be incorrect.">
            <a:extLst>
              <a:ext uri="{FF2B5EF4-FFF2-40B4-BE49-F238E27FC236}">
                <a16:creationId xmlns:a16="http://schemas.microsoft.com/office/drawing/2014/main" id="{9A9361B3-0C50-2EC6-6FDF-29B48029A81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7343" y="20373586"/>
            <a:ext cx="5018296" cy="1158068"/>
          </a:xfrm>
          <a:prstGeom prst="rect">
            <a:avLst/>
          </a:prstGeom>
        </p:spPr>
      </p:pic>
      <p:graphicFrame>
        <p:nvGraphicFramePr>
          <p:cNvPr id="3" name="Table 2">
            <a:extLst>
              <a:ext uri="{FF2B5EF4-FFF2-40B4-BE49-F238E27FC236}">
                <a16:creationId xmlns:a16="http://schemas.microsoft.com/office/drawing/2014/main" id="{3A21D0BB-9A23-E862-314B-78DC57BB156C}"/>
              </a:ext>
            </a:extLst>
          </p:cNvPr>
          <p:cNvGraphicFramePr>
            <a:graphicFrameLocks noGrp="1"/>
          </p:cNvGraphicFramePr>
          <p:nvPr>
            <p:extLst>
              <p:ext uri="{D42A27DB-BD31-4B8C-83A1-F6EECF244321}">
                <p14:modId xmlns:p14="http://schemas.microsoft.com/office/powerpoint/2010/main" val="3082466779"/>
              </p:ext>
            </p:extLst>
          </p:nvPr>
        </p:nvGraphicFramePr>
        <p:xfrm>
          <a:off x="20599879" y="6786113"/>
          <a:ext cx="5823494" cy="2691104"/>
        </p:xfrm>
        <a:graphic>
          <a:graphicData uri="http://schemas.openxmlformats.org/drawingml/2006/table">
            <a:tbl>
              <a:tblPr bandRow="1">
                <a:tableStyleId>{5C22544A-7EE6-4342-B048-85BDC9FD1C3A}</a:tableStyleId>
              </a:tblPr>
              <a:tblGrid>
                <a:gridCol w="1177501">
                  <a:extLst>
                    <a:ext uri="{9D8B030D-6E8A-4147-A177-3AD203B41FA5}">
                      <a16:colId xmlns:a16="http://schemas.microsoft.com/office/drawing/2014/main" val="1105431999"/>
                    </a:ext>
                  </a:extLst>
                </a:gridCol>
                <a:gridCol w="491068">
                  <a:extLst>
                    <a:ext uri="{9D8B030D-6E8A-4147-A177-3AD203B41FA5}">
                      <a16:colId xmlns:a16="http://schemas.microsoft.com/office/drawing/2014/main" val="3206506421"/>
                    </a:ext>
                  </a:extLst>
                </a:gridCol>
                <a:gridCol w="491068">
                  <a:extLst>
                    <a:ext uri="{9D8B030D-6E8A-4147-A177-3AD203B41FA5}">
                      <a16:colId xmlns:a16="http://schemas.microsoft.com/office/drawing/2014/main" val="4100336678"/>
                    </a:ext>
                  </a:extLst>
                </a:gridCol>
                <a:gridCol w="491068">
                  <a:extLst>
                    <a:ext uri="{9D8B030D-6E8A-4147-A177-3AD203B41FA5}">
                      <a16:colId xmlns:a16="http://schemas.microsoft.com/office/drawing/2014/main" val="1643074778"/>
                    </a:ext>
                  </a:extLst>
                </a:gridCol>
                <a:gridCol w="491068">
                  <a:extLst>
                    <a:ext uri="{9D8B030D-6E8A-4147-A177-3AD203B41FA5}">
                      <a16:colId xmlns:a16="http://schemas.microsoft.com/office/drawing/2014/main" val="121876806"/>
                    </a:ext>
                  </a:extLst>
                </a:gridCol>
                <a:gridCol w="491068">
                  <a:extLst>
                    <a:ext uri="{9D8B030D-6E8A-4147-A177-3AD203B41FA5}">
                      <a16:colId xmlns:a16="http://schemas.microsoft.com/office/drawing/2014/main" val="1436200755"/>
                    </a:ext>
                  </a:extLst>
                </a:gridCol>
                <a:gridCol w="491068">
                  <a:extLst>
                    <a:ext uri="{9D8B030D-6E8A-4147-A177-3AD203B41FA5}">
                      <a16:colId xmlns:a16="http://schemas.microsoft.com/office/drawing/2014/main" val="3002145581"/>
                    </a:ext>
                  </a:extLst>
                </a:gridCol>
                <a:gridCol w="1110835">
                  <a:extLst>
                    <a:ext uri="{9D8B030D-6E8A-4147-A177-3AD203B41FA5}">
                      <a16:colId xmlns:a16="http://schemas.microsoft.com/office/drawing/2014/main" val="1949937694"/>
                    </a:ext>
                  </a:extLst>
                </a:gridCol>
                <a:gridCol w="588750">
                  <a:extLst>
                    <a:ext uri="{9D8B030D-6E8A-4147-A177-3AD203B41FA5}">
                      <a16:colId xmlns:a16="http://schemas.microsoft.com/office/drawing/2014/main" val="2229514261"/>
                    </a:ext>
                  </a:extLst>
                </a:gridCol>
              </a:tblGrid>
              <a:tr h="220582">
                <a:tc gridSpan="9">
                  <a:txBody>
                    <a:bodyPr/>
                    <a:lstStyle/>
                    <a:p>
                      <a:pPr algn="l" rtl="0" fontAlgn="base">
                        <a:lnSpc>
                          <a:spcPts val="1125"/>
                        </a:lnSpc>
                        <a:buNone/>
                      </a:pPr>
                      <a:r>
                        <a:rPr lang="en-US" sz="900" b="1" i="0" dirty="0">
                          <a:solidFill>
                            <a:srgbClr val="000000"/>
                          </a:solidFill>
                          <a:effectLst/>
                          <a:latin typeface="Arial"/>
                        </a:rPr>
                        <a:t>Table 5: Regression Indicator Variables for Receiving Intervention (N= 46,588)</a:t>
                      </a:r>
                      <a:r>
                        <a:rPr lang="en-US" sz="900" b="0" i="0" dirty="0">
                          <a:solidFill>
                            <a:srgbClr val="000000"/>
                          </a:solidFill>
                          <a:effectLst/>
                          <a:latin typeface="Arial"/>
                        </a:rPr>
                        <a:t> </a:t>
                      </a:r>
                      <a:endParaRPr lang="en-US" b="0" i="0">
                        <a:effectLst/>
                      </a:endParaRPr>
                    </a:p>
                  </a:txBody>
                  <a:tcPr marL="9525" marR="9525" marT="9525" anchor="b">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78303737"/>
                  </a:ext>
                </a:extLst>
              </a:tr>
              <a:tr h="220582">
                <a:tc gridSpan="2">
                  <a:txBody>
                    <a:bodyPr/>
                    <a:lstStyle/>
                    <a:p>
                      <a:pPr algn="ctr" rtl="0" fontAlgn="base">
                        <a:lnSpc>
                          <a:spcPts val="1125"/>
                        </a:lnSpc>
                        <a:spcAft>
                          <a:spcPts val="800"/>
                        </a:spcAft>
                        <a:buNone/>
                      </a:pPr>
                      <a:endParaRPr lang="en-US" sz="900" b="0" i="0" dirty="0">
                        <a:effectLst/>
                        <a:latin typeface="Arial"/>
                      </a:endParaRPr>
                    </a:p>
                  </a:txBody>
                  <a:tcPr marL="9525" marR="9525" marT="9525" anchor="ctr">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4">
                  <a:txBody>
                    <a:bodyPr/>
                    <a:lstStyle/>
                    <a:p>
                      <a:pPr algn="ctr" rtl="0" fontAlgn="base">
                        <a:lnSpc>
                          <a:spcPts val="1125"/>
                        </a:lnSpc>
                        <a:buNone/>
                      </a:pPr>
                      <a:r>
                        <a:rPr lang="en-US" sz="900" b="1" i="0" dirty="0">
                          <a:solidFill>
                            <a:srgbClr val="000000"/>
                          </a:solidFill>
                          <a:effectLst/>
                          <a:latin typeface="Arial"/>
                        </a:rPr>
                        <a:t>Condoms Received</a:t>
                      </a:r>
                      <a:r>
                        <a:rPr lang="en-US" sz="900" b="0" i="0" dirty="0">
                          <a:solidFill>
                            <a:srgbClr val="000000"/>
                          </a:solidFill>
                          <a:effectLst/>
                          <a:latin typeface="Arial"/>
                        </a:rPr>
                        <a:t>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rtl="0" fontAlgn="base">
                        <a:lnSpc>
                          <a:spcPts val="1125"/>
                        </a:lnSpc>
                        <a:buNone/>
                      </a:pPr>
                      <a:r>
                        <a:rPr lang="en-US" sz="900" b="1" i="0" dirty="0">
                          <a:solidFill>
                            <a:srgbClr val="000000"/>
                          </a:solidFill>
                          <a:effectLst/>
                          <a:latin typeface="Arial"/>
                        </a:rPr>
                        <a:t>Lubricant Received </a:t>
                      </a:r>
                      <a:r>
                        <a:rPr lang="en-US" sz="900" b="0" i="0" dirty="0">
                          <a:solidFill>
                            <a:srgbClr val="000000"/>
                          </a:solidFill>
                          <a:effectLst/>
                          <a:latin typeface="Arial"/>
                        </a:rPr>
                        <a:t>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84275565"/>
                  </a:ext>
                </a:extLst>
              </a:tr>
              <a:tr h="220582">
                <a:tc gridSpan="2">
                  <a:txBody>
                    <a:bodyPr/>
                    <a:lstStyle/>
                    <a:p>
                      <a:pPr algn="l" rtl="0" fontAlgn="base">
                        <a:lnSpc>
                          <a:spcPts val="1125"/>
                        </a:lnSpc>
                        <a:buNone/>
                      </a:pPr>
                      <a:r>
                        <a:rPr lang="en-US" sz="900" b="1" i="0" dirty="0">
                          <a:solidFill>
                            <a:srgbClr val="000000"/>
                          </a:solidFill>
                          <a:effectLst/>
                          <a:latin typeface="Arial"/>
                        </a:rPr>
                        <a:t>Characteristic</a:t>
                      </a:r>
                      <a:r>
                        <a:rPr lang="en-US" sz="900" b="0" i="0" dirty="0">
                          <a:solidFill>
                            <a:srgbClr val="000000"/>
                          </a:solidFill>
                          <a:effectLst/>
                          <a:latin typeface="Arial"/>
                        </a:rPr>
                        <a:t> </a:t>
                      </a:r>
                      <a:endParaRPr lang="en-US" b="0" i="0" dirty="0">
                        <a:effectLst/>
                        <a:latin typeface="Arial"/>
                      </a:endParaRPr>
                    </a:p>
                  </a:txBody>
                  <a:tcPr marL="9525" marR="9525" marT="9525" anchor="ctr">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1" i="0" dirty="0">
                          <a:solidFill>
                            <a:srgbClr val="000000"/>
                          </a:solidFill>
                          <a:effectLst/>
                          <a:latin typeface="Arial"/>
                        </a:rPr>
                        <a:t>IRR</a:t>
                      </a:r>
                      <a:r>
                        <a:rPr lang="en-US" sz="900" b="0" i="0" dirty="0">
                          <a:solidFill>
                            <a:srgbClr val="000000"/>
                          </a:solidFill>
                          <a:effectLst/>
                          <a:latin typeface="Arial"/>
                        </a:rPr>
                        <a:t> </a:t>
                      </a:r>
                      <a:endParaRPr lang="en-US" b="0" i="0" dirty="0">
                        <a:effectLst/>
                        <a:latin typeface="Arial"/>
                      </a:endParaRPr>
                    </a:p>
                  </a:txBody>
                  <a:tcPr marL="9525" marR="9525" marT="9525"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1" i="0" dirty="0">
                          <a:solidFill>
                            <a:srgbClr val="000000"/>
                          </a:solidFill>
                          <a:effectLst/>
                          <a:latin typeface="Arial"/>
                        </a:rPr>
                        <a:t>95% CI</a:t>
                      </a:r>
                      <a:r>
                        <a:rPr lang="en-US" sz="900" b="0" i="0" dirty="0">
                          <a:solidFill>
                            <a:srgbClr val="000000"/>
                          </a:solidFill>
                          <a:effectLst/>
                          <a:latin typeface="Arial"/>
                        </a:rPr>
                        <a:t> </a:t>
                      </a:r>
                      <a:endParaRPr lang="en-US" b="0" i="0" dirty="0">
                        <a:effectLst/>
                        <a:latin typeface="Arial"/>
                      </a:endParaRPr>
                    </a:p>
                  </a:txBody>
                  <a:tcPr marL="9525" marR="9525" marT="9525"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1" i="0" dirty="0">
                          <a:solidFill>
                            <a:srgbClr val="000000"/>
                          </a:solidFill>
                          <a:effectLst/>
                          <a:latin typeface="Arial"/>
                        </a:rPr>
                        <a:t>IRR</a:t>
                      </a:r>
                      <a:r>
                        <a:rPr lang="en-US" sz="900" b="0" i="0" dirty="0">
                          <a:solidFill>
                            <a:srgbClr val="000000"/>
                          </a:solidFill>
                          <a:effectLst/>
                          <a:latin typeface="Arial"/>
                        </a:rPr>
                        <a:t> </a:t>
                      </a:r>
                      <a:endParaRPr lang="en-US" b="0" i="0" dirty="0">
                        <a:effectLst/>
                        <a:latin typeface="Arial"/>
                      </a:endParaRPr>
                    </a:p>
                  </a:txBody>
                  <a:tcPr marL="9525" marR="9525" marT="9525" anchor="b">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a:txBody>
                    <a:bodyPr/>
                    <a:lstStyle/>
                    <a:p>
                      <a:pPr algn="ctr" rtl="0" fontAlgn="base">
                        <a:lnSpc>
                          <a:spcPts val="1125"/>
                        </a:lnSpc>
                        <a:buNone/>
                      </a:pPr>
                      <a:r>
                        <a:rPr lang="en-US" sz="900" b="1" i="0" dirty="0">
                          <a:solidFill>
                            <a:srgbClr val="000000"/>
                          </a:solidFill>
                          <a:effectLst/>
                          <a:latin typeface="Arial"/>
                        </a:rPr>
                        <a:t>95% CI</a:t>
                      </a:r>
                      <a:r>
                        <a:rPr lang="en-US" sz="900" b="0" i="0" dirty="0">
                          <a:solidFill>
                            <a:srgbClr val="000000"/>
                          </a:solidFill>
                          <a:effectLst/>
                          <a:latin typeface="Arial"/>
                        </a:rPr>
                        <a:t> </a:t>
                      </a:r>
                      <a:endParaRPr lang="en-US" b="0" i="0" dirty="0">
                        <a:effectLst/>
                        <a:latin typeface="Arial"/>
                      </a:endParaRPr>
                    </a:p>
                  </a:txBody>
                  <a:tcPr marL="9525" marR="9525" marT="9525" anchor="b">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40906572"/>
                  </a:ext>
                </a:extLst>
              </a:tr>
              <a:tr h="220582">
                <a:tc gridSpan="2">
                  <a:txBody>
                    <a:bodyPr/>
                    <a:lstStyle/>
                    <a:p>
                      <a:pPr algn="l" rtl="0" fontAlgn="base">
                        <a:lnSpc>
                          <a:spcPts val="1125"/>
                        </a:lnSpc>
                        <a:buNone/>
                      </a:pPr>
                      <a:r>
                        <a:rPr lang="en-US" sz="900" b="0" i="0" dirty="0">
                          <a:solidFill>
                            <a:srgbClr val="000000"/>
                          </a:solidFill>
                          <a:effectLst/>
                          <a:latin typeface="Arial"/>
                        </a:rPr>
                        <a:t>     Age </a:t>
                      </a:r>
                      <a:endParaRPr lang="en-US" b="0" i="0" dirty="0">
                        <a:effectLst/>
                        <a:latin typeface="Arial"/>
                      </a:endParaRPr>
                    </a:p>
                  </a:txBody>
                  <a:tcPr marL="9525" marR="9525" marT="9525" anchor="ctr">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1 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1.00, 1.00 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1 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a:txBody>
                    <a:bodyPr/>
                    <a:lstStyle/>
                    <a:p>
                      <a:pPr algn="ctr" rtl="0" fontAlgn="base">
                        <a:lnSpc>
                          <a:spcPts val="1125"/>
                        </a:lnSpc>
                        <a:buNone/>
                      </a:pPr>
                      <a:r>
                        <a:rPr lang="en-US" sz="900" b="0" i="0" dirty="0">
                          <a:solidFill>
                            <a:srgbClr val="000000"/>
                          </a:solidFill>
                          <a:effectLst/>
                          <a:latin typeface="Arial"/>
                        </a:rPr>
                        <a:t>1.00, 1.00 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136276697"/>
                  </a:ext>
                </a:extLst>
              </a:tr>
              <a:tr h="408078">
                <a:tc>
                  <a:txBody>
                    <a:bodyPr/>
                    <a:lstStyle/>
                    <a:p>
                      <a:pPr algn="l" rtl="0" fontAlgn="base">
                        <a:lnSpc>
                          <a:spcPts val="1125"/>
                        </a:lnSpc>
                        <a:buNone/>
                      </a:pPr>
                      <a:r>
                        <a:rPr lang="en-US" sz="900" b="1" i="0" dirty="0">
                          <a:solidFill>
                            <a:srgbClr val="000000"/>
                          </a:solidFill>
                          <a:effectLst/>
                          <a:latin typeface="Arial"/>
                        </a:rPr>
                        <a:t>Gender Identity</a:t>
                      </a:r>
                      <a:r>
                        <a:rPr lang="en-US" sz="900" b="0" i="0" dirty="0">
                          <a:solidFill>
                            <a:srgbClr val="000000"/>
                          </a:solidFill>
                          <a:effectLst/>
                          <a:latin typeface="Arial"/>
                        </a:rPr>
                        <a:t> </a:t>
                      </a:r>
                      <a:endParaRPr lang="en-US" b="0" i="0" dirty="0">
                        <a:effectLst/>
                        <a:latin typeface="Arial"/>
                      </a:endParaRPr>
                    </a:p>
                  </a:txBody>
                  <a:tcPr marL="9525" marR="9525" marT="9525" anchor="ctr">
                    <a:lnL w="12700">
                      <a:solidFill>
                        <a:schemeClr val="tx1"/>
                      </a:solidFill>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gridSpan="2">
                  <a:txBody>
                    <a:bodyPr/>
                    <a:lstStyle/>
                    <a:p>
                      <a:pPr algn="ctr" rtl="0" fontAlgn="base">
                        <a:lnSpc>
                          <a:spcPts val="1125"/>
                        </a:lnSpc>
                        <a:buNone/>
                      </a:pPr>
                      <a:endParaRPr lang="en-US" sz="900" b="0" i="0" dirty="0">
                        <a:solidFill>
                          <a:srgbClr val="000000"/>
                        </a:solidFill>
                        <a:effectLst/>
                        <a:latin typeface="Arial"/>
                      </a:endParaRPr>
                    </a:p>
                  </a:txBody>
                  <a:tcPr marL="66675" marR="6667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rtl="0" fontAlgn="base">
                        <a:lnSpc>
                          <a:spcPts val="1125"/>
                        </a:lnSpc>
                        <a:buNone/>
                      </a:pPr>
                      <a:endParaRPr lang="en-US" sz="900" b="0" i="0" dirty="0">
                        <a:solidFill>
                          <a:srgbClr val="000000"/>
                        </a:solidFill>
                        <a:effectLst/>
                        <a:latin typeface="Arial"/>
                      </a:endParaRPr>
                    </a:p>
                  </a:txBody>
                  <a:tcPr marL="66675" marR="6667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rtl="0" fontAlgn="base">
                        <a:lnSpc>
                          <a:spcPts val="1125"/>
                        </a:lnSpc>
                        <a:buNone/>
                      </a:pPr>
                      <a:endParaRPr lang="en-US" sz="900" b="0" i="0" dirty="0">
                        <a:solidFill>
                          <a:srgbClr val="000000"/>
                        </a:solidFill>
                        <a:effectLst/>
                        <a:latin typeface="Arial"/>
                      </a:endParaRPr>
                    </a:p>
                  </a:txBody>
                  <a:tcPr marL="66675" marR="6667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endParaRPr lang="en-US"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25699628"/>
                  </a:ext>
                </a:extLst>
              </a:tr>
              <a:tr h="220582">
                <a:tc gridSpan="2">
                  <a:txBody>
                    <a:bodyPr/>
                    <a:lstStyle/>
                    <a:p>
                      <a:pPr algn="l" rtl="0" fontAlgn="base">
                        <a:lnSpc>
                          <a:spcPts val="1125"/>
                        </a:lnSpc>
                        <a:buNone/>
                      </a:pPr>
                      <a:r>
                        <a:rPr lang="en-US" sz="900" b="0" i="0" dirty="0">
                          <a:solidFill>
                            <a:srgbClr val="000000"/>
                          </a:solidFill>
                          <a:effectLst/>
                          <a:latin typeface="Arial"/>
                        </a:rPr>
                        <a:t>     Female (vs. Male) </a:t>
                      </a:r>
                      <a:endParaRPr lang="en-US" b="0" i="0" dirty="0">
                        <a:effectLst/>
                        <a:latin typeface="Arial"/>
                      </a:endParaRPr>
                    </a:p>
                  </a:txBody>
                  <a:tcPr marL="9525" marR="9525" marT="9525" anchor="ctr">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0.93 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0.89, 0.97 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1.81 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a:txBody>
                    <a:bodyPr/>
                    <a:lstStyle/>
                    <a:p>
                      <a:pPr algn="ctr" rtl="0" fontAlgn="base">
                        <a:lnSpc>
                          <a:spcPts val="1125"/>
                        </a:lnSpc>
                        <a:buNone/>
                      </a:pPr>
                      <a:r>
                        <a:rPr lang="en-US" sz="900" b="0" i="0" dirty="0">
                          <a:solidFill>
                            <a:srgbClr val="000000"/>
                          </a:solidFill>
                          <a:effectLst/>
                          <a:latin typeface="Arial"/>
                        </a:rPr>
                        <a:t>1.71, 1.91 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15800816"/>
                  </a:ext>
                </a:extLst>
              </a:tr>
              <a:tr h="220582">
                <a:tc gridSpan="2">
                  <a:txBody>
                    <a:bodyPr/>
                    <a:lstStyle/>
                    <a:p>
                      <a:pPr algn="l" rtl="0" fontAlgn="base">
                        <a:lnSpc>
                          <a:spcPts val="1125"/>
                        </a:lnSpc>
                        <a:buNone/>
                      </a:pPr>
                      <a:r>
                        <a:rPr lang="en-US" sz="900" b="0" i="0" dirty="0">
                          <a:solidFill>
                            <a:srgbClr val="000000"/>
                          </a:solidFill>
                          <a:effectLst/>
                          <a:latin typeface="Arial"/>
                        </a:rPr>
                        <a:t>     Trans Female (vs. Male) </a:t>
                      </a:r>
                      <a:endParaRPr lang="en-US" b="0" i="0" dirty="0">
                        <a:effectLst/>
                        <a:latin typeface="Arial"/>
                      </a:endParaRPr>
                    </a:p>
                  </a:txBody>
                  <a:tcPr marL="9525" marR="9525" marT="9525" anchor="ctr">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1 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0.98,1.02 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1.14 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a:txBody>
                    <a:bodyPr/>
                    <a:lstStyle/>
                    <a:p>
                      <a:pPr algn="ctr" rtl="0" fontAlgn="base">
                        <a:lnSpc>
                          <a:spcPts val="1125"/>
                        </a:lnSpc>
                        <a:buNone/>
                      </a:pPr>
                      <a:r>
                        <a:rPr lang="en-US" sz="900" b="0" i="0" dirty="0">
                          <a:solidFill>
                            <a:srgbClr val="000000"/>
                          </a:solidFill>
                          <a:effectLst/>
                          <a:latin typeface="Arial"/>
                        </a:rPr>
                        <a:t>1.11, 1.17 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28284761"/>
                  </a:ext>
                </a:extLst>
              </a:tr>
              <a:tr h="441165">
                <a:tc gridSpan="2">
                  <a:txBody>
                    <a:bodyPr/>
                    <a:lstStyle/>
                    <a:p>
                      <a:pPr algn="l" rtl="0" fontAlgn="base">
                        <a:lnSpc>
                          <a:spcPts val="1688"/>
                        </a:lnSpc>
                        <a:buNone/>
                      </a:pPr>
                      <a:r>
                        <a:rPr lang="en-US" sz="900" b="1" i="0" dirty="0">
                          <a:solidFill>
                            <a:srgbClr val="000000"/>
                          </a:solidFill>
                          <a:effectLst/>
                          <a:latin typeface="Arial"/>
                        </a:rPr>
                        <a:t>Nationality </a:t>
                      </a:r>
                      <a:r>
                        <a:rPr lang="en-US" sz="900" b="0" i="0" dirty="0">
                          <a:solidFill>
                            <a:srgbClr val="000000"/>
                          </a:solidFill>
                          <a:effectLst/>
                          <a:latin typeface="Arial"/>
                        </a:rPr>
                        <a:t> </a:t>
                      </a:r>
                      <a:endParaRPr lang="en-US" b="0" i="0" dirty="0">
                        <a:effectLst/>
                        <a:latin typeface="Arial"/>
                      </a:endParaRPr>
                    </a:p>
                    <a:p>
                      <a:pPr algn="l" rtl="0" fontAlgn="base">
                        <a:lnSpc>
                          <a:spcPts val="1125"/>
                        </a:lnSpc>
                        <a:buNone/>
                      </a:pPr>
                      <a:r>
                        <a:rPr lang="en-US" sz="900" b="0" i="0" dirty="0">
                          <a:solidFill>
                            <a:srgbClr val="000000"/>
                          </a:solidFill>
                          <a:effectLst/>
                          <a:latin typeface="Arial"/>
                        </a:rPr>
                        <a:t>     (Foreign (vs. Ecuadorian) </a:t>
                      </a:r>
                      <a:endParaRPr lang="en-US" b="0" i="0" dirty="0">
                        <a:effectLst/>
                        <a:latin typeface="Arial"/>
                      </a:endParaRPr>
                    </a:p>
                  </a:txBody>
                  <a:tcPr marL="9525" marR="9525" marT="9525" anchor="ctr">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0.98 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0.95, 1.01 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0.93 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a:txBody>
                    <a:bodyPr/>
                    <a:lstStyle/>
                    <a:p>
                      <a:pPr algn="ctr" rtl="0" fontAlgn="base">
                        <a:lnSpc>
                          <a:spcPts val="1125"/>
                        </a:lnSpc>
                        <a:buNone/>
                      </a:pPr>
                      <a:r>
                        <a:rPr lang="en-US" sz="900" b="0" i="0" dirty="0">
                          <a:solidFill>
                            <a:srgbClr val="000000"/>
                          </a:solidFill>
                          <a:effectLst/>
                          <a:latin typeface="Arial"/>
                        </a:rPr>
                        <a:t>0.89, 0.96 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46417894"/>
                  </a:ext>
                </a:extLst>
              </a:tr>
              <a:tr h="518369">
                <a:tc gridSpan="2">
                  <a:txBody>
                    <a:bodyPr/>
                    <a:lstStyle/>
                    <a:p>
                      <a:pPr algn="l" rtl="0" fontAlgn="base">
                        <a:lnSpc>
                          <a:spcPts val="1688"/>
                        </a:lnSpc>
                        <a:buNone/>
                      </a:pPr>
                      <a:r>
                        <a:rPr lang="en-US" sz="900" b="1" i="0" dirty="0">
                          <a:solidFill>
                            <a:srgbClr val="000000"/>
                          </a:solidFill>
                          <a:effectLst/>
                          <a:latin typeface="Arial"/>
                        </a:rPr>
                        <a:t>Sexual Orientation</a:t>
                      </a:r>
                      <a:r>
                        <a:rPr lang="en-US" sz="900" b="0" i="0" dirty="0">
                          <a:solidFill>
                            <a:srgbClr val="000000"/>
                          </a:solidFill>
                          <a:effectLst/>
                          <a:latin typeface="Arial"/>
                        </a:rPr>
                        <a:t>              </a:t>
                      </a:r>
                      <a:endParaRPr lang="en-US" b="0" i="0" dirty="0">
                        <a:effectLst/>
                        <a:latin typeface="Arial"/>
                      </a:endParaRPr>
                    </a:p>
                    <a:p>
                      <a:pPr algn="l" rtl="0" fontAlgn="base">
                        <a:lnSpc>
                          <a:spcPts val="1688"/>
                        </a:lnSpc>
                        <a:buNone/>
                      </a:pPr>
                      <a:r>
                        <a:rPr lang="en-US" sz="900" b="0" i="0" dirty="0">
                          <a:solidFill>
                            <a:srgbClr val="000000"/>
                          </a:solidFill>
                          <a:effectLst/>
                          <a:latin typeface="Arial"/>
                        </a:rPr>
                        <a:t>     (Other (vs. Heterosexual) </a:t>
                      </a:r>
                      <a:endParaRPr lang="en-US" b="0" i="0" dirty="0">
                        <a:effectLst/>
                        <a:latin typeface="Arial"/>
                      </a:endParaRPr>
                    </a:p>
                  </a:txBody>
                  <a:tcPr marL="9525" marR="9525" marT="9525" anchor="ctr">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1 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0.96, 1.04 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2">
                  <a:txBody>
                    <a:bodyPr/>
                    <a:lstStyle/>
                    <a:p>
                      <a:pPr algn="ctr" rtl="0" fontAlgn="base">
                        <a:lnSpc>
                          <a:spcPts val="1125"/>
                        </a:lnSpc>
                        <a:buNone/>
                      </a:pPr>
                      <a:r>
                        <a:rPr lang="en-US" sz="900" b="0" i="0" dirty="0">
                          <a:solidFill>
                            <a:srgbClr val="000000"/>
                          </a:solidFill>
                          <a:effectLst/>
                          <a:latin typeface="Arial"/>
                        </a:rPr>
                        <a:t>1.21 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rtl="0" fontAlgn="base">
                        <a:lnSpc>
                          <a:spcPts val="1125"/>
                        </a:lnSpc>
                        <a:buNone/>
                      </a:pPr>
                      <a:r>
                        <a:rPr lang="en-US" sz="900" b="0" i="0" dirty="0">
                          <a:solidFill>
                            <a:srgbClr val="000000"/>
                          </a:solidFill>
                          <a:effectLst/>
                          <a:latin typeface="Arial"/>
                        </a:rPr>
                        <a:t>1.15, 1.27 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102779"/>
                  </a:ext>
                </a:extLst>
              </a:tr>
            </a:tbl>
          </a:graphicData>
        </a:graphic>
      </p:graphicFrame>
      <p:graphicFrame>
        <p:nvGraphicFramePr>
          <p:cNvPr id="14" name="Table 13">
            <a:extLst>
              <a:ext uri="{FF2B5EF4-FFF2-40B4-BE49-F238E27FC236}">
                <a16:creationId xmlns:a16="http://schemas.microsoft.com/office/drawing/2014/main" id="{C007C448-980C-4102-302F-909534CD7EA7}"/>
              </a:ext>
            </a:extLst>
          </p:cNvPr>
          <p:cNvGraphicFramePr>
            <a:graphicFrameLocks noGrp="1"/>
          </p:cNvGraphicFramePr>
          <p:nvPr>
            <p:extLst>
              <p:ext uri="{D42A27DB-BD31-4B8C-83A1-F6EECF244321}">
                <p14:modId xmlns:p14="http://schemas.microsoft.com/office/powerpoint/2010/main" val="1737725"/>
              </p:ext>
            </p:extLst>
          </p:nvPr>
        </p:nvGraphicFramePr>
        <p:xfrm>
          <a:off x="20565373" y="13928784"/>
          <a:ext cx="5924550" cy="3045953"/>
        </p:xfrm>
        <a:graphic>
          <a:graphicData uri="http://schemas.openxmlformats.org/drawingml/2006/table">
            <a:tbl>
              <a:tblPr bandRow="1">
                <a:tableStyleId>{5C22544A-7EE6-4342-B048-85BDC9FD1C3A}</a:tableStyleId>
              </a:tblPr>
              <a:tblGrid>
                <a:gridCol w="3505200">
                  <a:extLst>
                    <a:ext uri="{9D8B030D-6E8A-4147-A177-3AD203B41FA5}">
                      <a16:colId xmlns:a16="http://schemas.microsoft.com/office/drawing/2014/main" val="3124353684"/>
                    </a:ext>
                  </a:extLst>
                </a:gridCol>
                <a:gridCol w="1209675">
                  <a:extLst>
                    <a:ext uri="{9D8B030D-6E8A-4147-A177-3AD203B41FA5}">
                      <a16:colId xmlns:a16="http://schemas.microsoft.com/office/drawing/2014/main" val="4084003665"/>
                    </a:ext>
                  </a:extLst>
                </a:gridCol>
                <a:gridCol w="1209675">
                  <a:extLst>
                    <a:ext uri="{9D8B030D-6E8A-4147-A177-3AD203B41FA5}">
                      <a16:colId xmlns:a16="http://schemas.microsoft.com/office/drawing/2014/main" val="3699842461"/>
                    </a:ext>
                  </a:extLst>
                </a:gridCol>
              </a:tblGrid>
              <a:tr h="291157">
                <a:tc gridSpan="3">
                  <a:txBody>
                    <a:bodyPr/>
                    <a:lstStyle/>
                    <a:p>
                      <a:pPr algn="l" rtl="0" fontAlgn="base">
                        <a:lnSpc>
                          <a:spcPts val="1125"/>
                        </a:lnSpc>
                        <a:buNone/>
                      </a:pPr>
                      <a:r>
                        <a:rPr lang="en-US" sz="900" b="1" i="0" dirty="0">
                          <a:solidFill>
                            <a:srgbClr val="000000"/>
                          </a:solidFill>
                          <a:effectLst/>
                          <a:latin typeface="Arial"/>
                        </a:rPr>
                        <a:t>Table 6: Care Access among HIV+ only (N = 435)</a:t>
                      </a:r>
                      <a:r>
                        <a:rPr lang="en-US" sz="900" b="0" i="0" dirty="0">
                          <a:solidFill>
                            <a:srgbClr val="000000"/>
                          </a:solidFill>
                          <a:effectLst/>
                          <a:latin typeface="Arial"/>
                        </a:rPr>
                        <a:t> </a:t>
                      </a:r>
                      <a:endParaRPr lang="en-US" b="0" i="0" dirty="0">
                        <a:effectLst/>
                        <a:latin typeface="Arial"/>
                      </a:endParaRPr>
                    </a:p>
                  </a:txBody>
                  <a:tcPr marL="9525" marR="9525" marT="9525" anchor="b">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31625589"/>
                  </a:ext>
                </a:extLst>
              </a:tr>
              <a:tr h="291157">
                <a:tc>
                  <a:txBody>
                    <a:bodyPr/>
                    <a:lstStyle/>
                    <a:p>
                      <a:pPr algn="l" rtl="0" fontAlgn="base">
                        <a:lnSpc>
                          <a:spcPts val="1125"/>
                        </a:lnSpc>
                        <a:buNone/>
                      </a:pPr>
                      <a:r>
                        <a:rPr lang="en-US" sz="900" b="1" i="0" dirty="0">
                          <a:solidFill>
                            <a:srgbClr val="000000"/>
                          </a:solidFill>
                          <a:effectLst/>
                          <a:latin typeface="Arial"/>
                        </a:rPr>
                        <a:t>Characteristic</a:t>
                      </a:r>
                      <a:r>
                        <a:rPr lang="en-US" sz="900" b="0" i="0" dirty="0">
                          <a:solidFill>
                            <a:srgbClr val="000000"/>
                          </a:solidFill>
                          <a:effectLst/>
                          <a:latin typeface="Arial"/>
                        </a:rPr>
                        <a:t> </a:t>
                      </a:r>
                      <a:endParaRPr lang="en-US" b="0" i="0" dirty="0">
                        <a:effectLst/>
                        <a:latin typeface="Arial"/>
                      </a:endParaRPr>
                    </a:p>
                  </a:txBody>
                  <a:tcPr marL="9525" marR="9525" marT="9525" anchor="ctr">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rtl="0" fontAlgn="base">
                        <a:lnSpc>
                          <a:spcPts val="1125"/>
                        </a:lnSpc>
                        <a:buNone/>
                      </a:pPr>
                      <a:r>
                        <a:rPr lang="en-US" sz="900" b="1" i="0" dirty="0">
                          <a:solidFill>
                            <a:srgbClr val="000000"/>
                          </a:solidFill>
                          <a:effectLst/>
                          <a:latin typeface="Arial"/>
                        </a:rPr>
                        <a:t>IRR</a:t>
                      </a:r>
                      <a:r>
                        <a:rPr lang="en-US" sz="900" b="0" i="0" dirty="0">
                          <a:solidFill>
                            <a:srgbClr val="000000"/>
                          </a:solidFill>
                          <a:effectLst/>
                          <a:latin typeface="Arial"/>
                        </a:rPr>
                        <a:t>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rtl="0" fontAlgn="base">
                        <a:lnSpc>
                          <a:spcPts val="1125"/>
                        </a:lnSpc>
                        <a:buNone/>
                      </a:pPr>
                      <a:r>
                        <a:rPr lang="en-US" sz="900" b="1" i="0" dirty="0">
                          <a:solidFill>
                            <a:srgbClr val="000000"/>
                          </a:solidFill>
                          <a:effectLst/>
                          <a:latin typeface="Arial"/>
                        </a:rPr>
                        <a:t>95% CI</a:t>
                      </a:r>
                      <a:r>
                        <a:rPr lang="en-US" sz="900" b="0" i="0" dirty="0">
                          <a:solidFill>
                            <a:srgbClr val="000000"/>
                          </a:solidFill>
                          <a:effectLst/>
                          <a:latin typeface="Arial"/>
                        </a:rPr>
                        <a:t>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062441954"/>
                  </a:ext>
                </a:extLst>
              </a:tr>
              <a:tr h="291157">
                <a:tc>
                  <a:txBody>
                    <a:bodyPr/>
                    <a:lstStyle/>
                    <a:p>
                      <a:pPr algn="l" rtl="0" fontAlgn="base">
                        <a:lnSpc>
                          <a:spcPts val="1125"/>
                        </a:lnSpc>
                        <a:buNone/>
                      </a:pPr>
                      <a:r>
                        <a:rPr lang="en-US" sz="900" b="0" i="0" dirty="0">
                          <a:solidFill>
                            <a:srgbClr val="000000"/>
                          </a:solidFill>
                          <a:effectLst/>
                          <a:latin typeface="Arial"/>
                        </a:rPr>
                        <a:t>     Age </a:t>
                      </a:r>
                      <a:endParaRPr lang="en-US" b="0" i="0" dirty="0">
                        <a:effectLst/>
                        <a:latin typeface="Arial"/>
                      </a:endParaRPr>
                    </a:p>
                  </a:txBody>
                  <a:tcPr marL="9525" marR="9525" marT="9525" anchor="ctr">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rtl="0" fontAlgn="base">
                        <a:lnSpc>
                          <a:spcPts val="1125"/>
                        </a:lnSpc>
                        <a:buNone/>
                      </a:pPr>
                      <a:r>
                        <a:rPr lang="en-US" sz="900" b="0" i="0" dirty="0">
                          <a:solidFill>
                            <a:srgbClr val="000000"/>
                          </a:solidFill>
                          <a:effectLst/>
                          <a:latin typeface="Arial"/>
                        </a:rPr>
                        <a:t>1.00 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rtl="0" fontAlgn="base">
                        <a:lnSpc>
                          <a:spcPts val="1125"/>
                        </a:lnSpc>
                        <a:buNone/>
                      </a:pPr>
                      <a:r>
                        <a:rPr lang="en-US" sz="900" b="0" i="0" dirty="0">
                          <a:solidFill>
                            <a:srgbClr val="000000"/>
                          </a:solidFill>
                          <a:effectLst/>
                          <a:latin typeface="Arial"/>
                        </a:rPr>
                        <a:t>0.99, 1.02 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909480470"/>
                  </a:ext>
                </a:extLst>
              </a:tr>
              <a:tr h="291157">
                <a:tc>
                  <a:txBody>
                    <a:bodyPr/>
                    <a:lstStyle/>
                    <a:p>
                      <a:pPr algn="l" rtl="0" fontAlgn="base">
                        <a:lnSpc>
                          <a:spcPts val="1125"/>
                        </a:lnSpc>
                        <a:buNone/>
                      </a:pPr>
                      <a:r>
                        <a:rPr lang="en-US" sz="900" b="1" i="0" dirty="0">
                          <a:solidFill>
                            <a:srgbClr val="000000"/>
                          </a:solidFill>
                          <a:effectLst/>
                          <a:latin typeface="Arial"/>
                        </a:rPr>
                        <a:t>Gender Identity</a:t>
                      </a:r>
                      <a:r>
                        <a:rPr lang="en-US" sz="900" b="0" i="0" dirty="0">
                          <a:solidFill>
                            <a:srgbClr val="000000"/>
                          </a:solidFill>
                          <a:effectLst/>
                          <a:latin typeface="Arial"/>
                        </a:rPr>
                        <a:t> </a:t>
                      </a:r>
                      <a:endParaRPr lang="en-US" b="0" i="0" dirty="0">
                        <a:effectLst/>
                        <a:latin typeface="Arial"/>
                      </a:endParaRPr>
                    </a:p>
                  </a:txBody>
                  <a:tcPr marL="9525" marR="9525" marT="9525" anchor="ctr">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l" rtl="0" fontAlgn="base">
                        <a:lnSpc>
                          <a:spcPts val="1125"/>
                        </a:lnSpc>
                        <a:spcAft>
                          <a:spcPts val="800"/>
                        </a:spcAft>
                        <a:buNone/>
                      </a:pPr>
                      <a:endParaRPr lang="en-US" sz="900"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rtl="0" fontAlgn="base">
                        <a:lnSpc>
                          <a:spcPts val="1125"/>
                        </a:lnSpc>
                        <a:spcAft>
                          <a:spcPts val="800"/>
                        </a:spcAft>
                        <a:buNone/>
                      </a:pPr>
                      <a:endParaRPr lang="en-US" sz="900"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11508066"/>
                  </a:ext>
                </a:extLst>
              </a:tr>
              <a:tr h="291157">
                <a:tc>
                  <a:txBody>
                    <a:bodyPr/>
                    <a:lstStyle/>
                    <a:p>
                      <a:pPr algn="l" rtl="0" fontAlgn="base">
                        <a:lnSpc>
                          <a:spcPts val="1125"/>
                        </a:lnSpc>
                        <a:buNone/>
                      </a:pPr>
                      <a:r>
                        <a:rPr lang="en-US" sz="900" b="0" i="0" dirty="0">
                          <a:solidFill>
                            <a:srgbClr val="000000"/>
                          </a:solidFill>
                          <a:effectLst/>
                          <a:latin typeface="Arial"/>
                        </a:rPr>
                        <a:t>     Female (vs. Males) </a:t>
                      </a:r>
                      <a:endParaRPr lang="en-US" b="0" i="0" dirty="0">
                        <a:effectLst/>
                        <a:latin typeface="Arial"/>
                      </a:endParaRPr>
                    </a:p>
                  </a:txBody>
                  <a:tcPr marL="9525" marR="9525" marT="9525" anchor="ctr">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rtl="0" fontAlgn="base">
                        <a:lnSpc>
                          <a:spcPts val="1125"/>
                        </a:lnSpc>
                        <a:buNone/>
                      </a:pPr>
                      <a:r>
                        <a:rPr lang="en-US" sz="900" b="0" i="0" dirty="0">
                          <a:solidFill>
                            <a:srgbClr val="000000"/>
                          </a:solidFill>
                          <a:effectLst/>
                          <a:latin typeface="Arial"/>
                        </a:rPr>
                        <a:t>1.00 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rtl="0" fontAlgn="base">
                        <a:lnSpc>
                          <a:spcPts val="1125"/>
                        </a:lnSpc>
                        <a:buNone/>
                      </a:pPr>
                      <a:r>
                        <a:rPr lang="en-US" sz="900" b="0" i="0" dirty="0">
                          <a:solidFill>
                            <a:srgbClr val="000000"/>
                          </a:solidFill>
                          <a:effectLst/>
                          <a:latin typeface="Arial"/>
                        </a:rPr>
                        <a:t>0.41, 2.21 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029875231"/>
                  </a:ext>
                </a:extLst>
              </a:tr>
              <a:tr h="291157">
                <a:tc>
                  <a:txBody>
                    <a:bodyPr/>
                    <a:lstStyle/>
                    <a:p>
                      <a:pPr algn="l" rtl="0" fontAlgn="base">
                        <a:lnSpc>
                          <a:spcPts val="1125"/>
                        </a:lnSpc>
                        <a:buNone/>
                      </a:pPr>
                      <a:r>
                        <a:rPr lang="en-US" sz="900" b="0" i="0" dirty="0">
                          <a:solidFill>
                            <a:srgbClr val="000000"/>
                          </a:solidFill>
                          <a:effectLst/>
                          <a:latin typeface="Arial"/>
                        </a:rPr>
                        <a:t>     Trans Female (vs. Males) </a:t>
                      </a:r>
                      <a:endParaRPr lang="en-US" b="0" i="0" dirty="0">
                        <a:effectLst/>
                        <a:latin typeface="Arial"/>
                      </a:endParaRPr>
                    </a:p>
                  </a:txBody>
                  <a:tcPr marL="9525" marR="9525" marT="9525" anchor="ctr">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rtl="0" fontAlgn="base">
                        <a:lnSpc>
                          <a:spcPts val="1125"/>
                        </a:lnSpc>
                        <a:buNone/>
                      </a:pPr>
                      <a:r>
                        <a:rPr lang="en-US" sz="900" b="0" i="0" dirty="0">
                          <a:solidFill>
                            <a:srgbClr val="000000"/>
                          </a:solidFill>
                          <a:effectLst/>
                          <a:latin typeface="Arial"/>
                        </a:rPr>
                        <a:t>1.07 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rtl="0" fontAlgn="base">
                        <a:lnSpc>
                          <a:spcPts val="1125"/>
                        </a:lnSpc>
                        <a:buNone/>
                      </a:pPr>
                      <a:r>
                        <a:rPr lang="en-US" sz="900" b="0" i="0" dirty="0">
                          <a:solidFill>
                            <a:srgbClr val="000000"/>
                          </a:solidFill>
                          <a:effectLst/>
                          <a:latin typeface="Arial"/>
                        </a:rPr>
                        <a:t>0.82, 1.38 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43743071"/>
                  </a:ext>
                </a:extLst>
              </a:tr>
              <a:tr h="593514">
                <a:tc>
                  <a:txBody>
                    <a:bodyPr/>
                    <a:lstStyle/>
                    <a:p>
                      <a:pPr algn="l" rtl="0" fontAlgn="base">
                        <a:lnSpc>
                          <a:spcPts val="1688"/>
                        </a:lnSpc>
                        <a:buNone/>
                      </a:pPr>
                      <a:r>
                        <a:rPr lang="en-US" sz="900" b="1" i="0" dirty="0">
                          <a:solidFill>
                            <a:srgbClr val="000000"/>
                          </a:solidFill>
                          <a:effectLst/>
                          <a:latin typeface="Arial"/>
                        </a:rPr>
                        <a:t>Nationality</a:t>
                      </a:r>
                      <a:r>
                        <a:rPr lang="en-US" sz="900" b="0" i="0" dirty="0">
                          <a:solidFill>
                            <a:srgbClr val="000000"/>
                          </a:solidFill>
                          <a:effectLst/>
                          <a:latin typeface="Arial"/>
                        </a:rPr>
                        <a:t>  </a:t>
                      </a:r>
                      <a:endParaRPr lang="en-US" b="0" i="0" dirty="0">
                        <a:effectLst/>
                        <a:latin typeface="Arial"/>
                      </a:endParaRPr>
                    </a:p>
                    <a:p>
                      <a:pPr algn="l" rtl="0" fontAlgn="base">
                        <a:lnSpc>
                          <a:spcPts val="1125"/>
                        </a:lnSpc>
                        <a:buNone/>
                      </a:pPr>
                      <a:r>
                        <a:rPr lang="en-US" sz="900" b="0" i="0" dirty="0">
                          <a:solidFill>
                            <a:srgbClr val="000000"/>
                          </a:solidFill>
                          <a:effectLst/>
                          <a:latin typeface="Arial"/>
                        </a:rPr>
                        <a:t>     Foreign (vs. Ecuadorian)  </a:t>
                      </a:r>
                      <a:endParaRPr lang="en-US" b="0" i="0" dirty="0">
                        <a:effectLst/>
                        <a:latin typeface="Arial"/>
                      </a:endParaRPr>
                    </a:p>
                  </a:txBody>
                  <a:tcPr marL="9525" marR="9525" marT="9525" anchor="b">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rtl="0" fontAlgn="base">
                        <a:lnSpc>
                          <a:spcPts val="1125"/>
                        </a:lnSpc>
                        <a:buNone/>
                      </a:pPr>
                      <a:r>
                        <a:rPr lang="en-US" sz="900" b="0" i="0" dirty="0">
                          <a:solidFill>
                            <a:srgbClr val="000000"/>
                          </a:solidFill>
                          <a:effectLst/>
                          <a:latin typeface="Arial"/>
                        </a:rPr>
                        <a:t>1.07 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rtl="0" fontAlgn="base">
                        <a:lnSpc>
                          <a:spcPts val="1125"/>
                        </a:lnSpc>
                        <a:buNone/>
                      </a:pPr>
                      <a:r>
                        <a:rPr lang="en-US" sz="900" b="0" i="0" dirty="0">
                          <a:solidFill>
                            <a:srgbClr val="000000"/>
                          </a:solidFill>
                          <a:effectLst/>
                          <a:latin typeface="Arial"/>
                        </a:rPr>
                        <a:t>0.83, 1.36 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89265938"/>
                  </a:ext>
                </a:extLst>
              </a:tr>
              <a:tr h="705497">
                <a:tc>
                  <a:txBody>
                    <a:bodyPr/>
                    <a:lstStyle/>
                    <a:p>
                      <a:pPr algn="l" rtl="0" fontAlgn="base">
                        <a:lnSpc>
                          <a:spcPts val="1688"/>
                        </a:lnSpc>
                        <a:buNone/>
                      </a:pPr>
                      <a:r>
                        <a:rPr lang="en-US" sz="900" b="1" i="0" dirty="0">
                          <a:solidFill>
                            <a:srgbClr val="000000"/>
                          </a:solidFill>
                          <a:effectLst/>
                          <a:latin typeface="Arial"/>
                        </a:rPr>
                        <a:t>Sexual Orientation </a:t>
                      </a:r>
                      <a:r>
                        <a:rPr lang="en-US" sz="900" b="0" i="0" dirty="0">
                          <a:solidFill>
                            <a:srgbClr val="000000"/>
                          </a:solidFill>
                          <a:effectLst/>
                          <a:latin typeface="Arial"/>
                        </a:rPr>
                        <a:t> </a:t>
                      </a:r>
                      <a:endParaRPr lang="en-US" b="0" i="0" dirty="0">
                        <a:effectLst/>
                        <a:latin typeface="Arial"/>
                      </a:endParaRPr>
                    </a:p>
                    <a:p>
                      <a:pPr algn="l" rtl="0" fontAlgn="base">
                        <a:lnSpc>
                          <a:spcPts val="1688"/>
                        </a:lnSpc>
                        <a:buNone/>
                      </a:pPr>
                      <a:r>
                        <a:rPr lang="en-US" sz="900" b="0" i="0" dirty="0">
                          <a:solidFill>
                            <a:srgbClr val="000000"/>
                          </a:solidFill>
                          <a:effectLst/>
                          <a:latin typeface="Arial"/>
                        </a:rPr>
                        <a:t>     Other (vs. Heterosexual) </a:t>
                      </a:r>
                      <a:endParaRPr lang="en-US" b="0" i="0" dirty="0">
                        <a:effectLst/>
                        <a:latin typeface="Arial"/>
                      </a:endParaRPr>
                    </a:p>
                  </a:txBody>
                  <a:tcPr marL="9525" marR="9525" marT="9525" anchor="b">
                    <a:lnL w="12700">
                      <a:solidFill>
                        <a:schemeClr val="tx1"/>
                      </a:solid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lnSpc>
                          <a:spcPts val="1125"/>
                        </a:lnSpc>
                        <a:buNone/>
                      </a:pPr>
                      <a:r>
                        <a:rPr lang="en-US" sz="900" b="0" i="0" dirty="0">
                          <a:solidFill>
                            <a:srgbClr val="000000"/>
                          </a:solidFill>
                          <a:effectLst/>
                          <a:latin typeface="Arial"/>
                        </a:rPr>
                        <a:t>0.89 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lnSpc>
                          <a:spcPts val="1125"/>
                        </a:lnSpc>
                        <a:buNone/>
                      </a:pPr>
                      <a:r>
                        <a:rPr lang="en-US" sz="900" b="0" i="0" dirty="0">
                          <a:solidFill>
                            <a:srgbClr val="000000"/>
                          </a:solidFill>
                          <a:effectLst/>
                          <a:latin typeface="Arial"/>
                        </a:rPr>
                        <a:t>0.56, 1.52 </a:t>
                      </a:r>
                      <a:endParaRPr lang="en-US" b="0" i="0" dirty="0">
                        <a:effectLst/>
                        <a:latin typeface="Arial"/>
                      </a:endParaRPr>
                    </a:p>
                  </a:txBody>
                  <a:tcPr marL="9525" marR="9525" marT="9525" anchor="ctr">
                    <a:lnL w="12700" cap="flat" cmpd="sng" algn="ctr">
                      <a:solidFill>
                        <a:schemeClr val="tx1">
                          <a:lumMod val="50000"/>
                          <a:lumOff val="50000"/>
                        </a:schemeClr>
                      </a:solidFill>
                      <a:prstDash val="solid"/>
                      <a:round/>
                      <a:headEnd type="none" w="med" len="med"/>
                      <a:tailEnd type="none" w="med" len="med"/>
                    </a:lnL>
                    <a:lnR w="12700">
                      <a:solidFill>
                        <a:schemeClr val="tx1"/>
                      </a:solidFill>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4165891"/>
                  </a:ext>
                </a:extLst>
              </a:tr>
            </a:tbl>
          </a:graphicData>
        </a:graphic>
      </p:graphicFrame>
    </p:spTree>
  </p:cSld>
  <p:clrMapOvr>
    <a:masterClrMapping/>
  </p:clrMapOvr>
</p:sld>
</file>

<file path=ppt/theme/theme1.xml><?xml version="1.0" encoding="utf-8"?>
<a:theme xmlns:a="http://schemas.openxmlformats.org/drawingml/2006/main" name="Default Design">
  <a:themeElements>
    <a:clrScheme name="Custom 8">
      <a:dk1>
        <a:srgbClr val="000000"/>
      </a:dk1>
      <a:lt1>
        <a:srgbClr val="FFFFFF"/>
      </a:lt1>
      <a:dk2>
        <a:srgbClr val="4E3B30"/>
      </a:dk2>
      <a:lt2>
        <a:srgbClr val="FBEEC9"/>
      </a:lt2>
      <a:accent1>
        <a:srgbClr val="F09345"/>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Mesh</Template>
  <TotalTime>0</TotalTime>
  <Words>1058</Words>
  <Application>Microsoft Office PowerPoint</Application>
  <PresentationFormat>Custom</PresentationFormat>
  <Paragraphs>222</Paragraphs>
  <Slides>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Arial</vt:lpstr>
      <vt:lpstr>Calibri</vt:lpstr>
      <vt:lpstr>Helvetica</vt:lpstr>
      <vt:lpstr>Default Design</vt:lpstr>
      <vt:lpstr>PowerPoint Presentation</vt:lpstr>
      <vt:lpstr>PowerPoint Presentation</vt:lpstr>
    </vt:vector>
  </TitlesOfParts>
  <Company>Genigraphics 800.790.4001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24x36</dc:title>
  <dc:creator>Genigraphics 800.790.4001</dc:creator>
  <dc:description>To order poster prints visit us at www.genigraphics.com</dc:description>
  <cp:lastModifiedBy>Aidan Estes</cp:lastModifiedBy>
  <cp:revision>54</cp:revision>
  <dcterms:created xsi:type="dcterms:W3CDTF">2008-05-03T03:01:56Z</dcterms:created>
  <dcterms:modified xsi:type="dcterms:W3CDTF">2025-05-22T16:18:45Z</dcterms:modified>
</cp:coreProperties>
</file>